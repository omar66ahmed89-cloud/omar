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عرض استراتيجي مبني على معلومات المشروع المتاحة. الرسوم على الغلاف عناصر تصميم تجريدية وليست تصورًا معماريًا للمشروع. بيانات المساحة والتشطيب والتسليم والمخزون وسابقة الأعمال لسه مطلوبة. مفيش رصد منافسين محدث مكتمل.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التحدي الأساسي إن المشروع تحت الإنشاء وفترة السداد سنتين. الاستراتيجية بتركز على تأهيل العميل، إثبات قيمة الوحدة، وبناء الثقة قبل طلب الحجز.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نقارن الوحدات المماثلة الأول. خلط مناطق ومواصفات مختلفة في متوسط واحد ممكن يطلع باستنتاج سعري مضلل. ترتيب النطاقات إطار بحث، مش بيانات عن حجم الطلب في كل منطقة.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الجدول بيصنف المنافسة من غير تسمية منافسين أو ادعاء أسعار غير متحققة. خدمات الكمباوند المجاور لا تُنسب لمشروع الوليد.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نتواصل مع أقرب العروض للتحقق من حداثة البيانات. لو ظهر تفوق سعري، نصيغ ادعاء محدد بنطاق وتاريخ، بدل «الأرخص» بشكل مطلق.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نثبت أقوى ميزة حقيقية بعد استكمال البيانات: خصوصية أو تقسيم أو مساحة أو جودة أو سعر متر. تجنب الرفاهية غير المثبتة والعائد المضمون.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الاستفسار يتأهل تدريجيًا. المعاينة تشمل الموقع ومرحلة التنفيذ لأن المشروع لسه تحت الإنشاء. المتابعة تبقى مبنية على احتياج العميل واعتراضه، مش مجرد سؤال متكرر عن القرار.</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أول أسبوعين نطلع خط أساس لتكلفة الاستفسار المؤهل والمعاينة. بعد كده التحسين يعتمد على الجودة، مش خفض تكلفة الرسالة على حساب الملاءمة.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الثقة واخدة أعلى حصة في البداية لأن المنتج تحت الإنشاء. إجمالي توزيع المحاور ١٠٠٪. النسب دي توزيع محتوى، ومختلفة عن توزيع ميزانية الإعلان.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نوضح الفرق بين الواقع والتصور. ما نوعدش بخصوصية استثنائية من غير تفاصيل عدد الوحدات وتوزيعها، وما ننسبش خدمات الكمباوند المجاور للمشروع.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المحتوى الاستثماري ما يذكرش عائد إيجاري غير متحقق. عند توفر البيانات، نحسب صافي العائد بعد المصاريف ونوضح الافتراضات. السعر يتربط بالوحدة المتاحة لو الأسعار مختلفة.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اختيار القنوات فرضية تشغيلية يتم تقييمها بالنتائج. ما نوسعش القنوات لو ده هيشتت فريق البيع أو يقلل جودة الإنتاج.</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إعلان السعر لازم يوضح لو السعر خاص بوحدة محددة، وتتوضح المساحة والتشطيب والمصاريف والشروط في تفاصيل العرض. ما نستخدمش «الأرخص» أو «أقل مقدم» قبل المقارنة.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المسؤوليات مقترحة، وتتوزع حسب الهيكل الفعلي للشركة. لازم تتأكد دقة المعلومات قبل الإعلانات، مع الحفاظ على أي معلومات شخصية أو بيانات حساسة عند مشاركة المستندات.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العرض بيلخص الاستراتيجية التفصيلية، ومش دراسة أسعار محدثة أو وعدًا بحجوزات أو عوائد. الأرقام البيعية تتحدد بعد استكمال البيانات وفترة القياس الأولية. كل عناصر العرض قابلة للتعديل داخل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D38"/>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D8B36A"/>
                </a:solidFill>
                <a:latin typeface="Noto Sans Arabic"/>
                <a:ea typeface="Noto Sans Arabic"/>
                <a:cs typeface="Noto Sans Arabic"/>
              </a:rPr>
              <a:t>استراتيجية تسويق عقاري</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FFFFFF"/>
                </a:solidFill>
                <a:latin typeface="Noto Sans Arabic"/>
                <a:ea typeface="Noto Sans Arabic"/>
                <a:cs typeface="Noto Sans Arabic"/>
              </a:rPr>
              <a:t/>
            </a:r>
          </a:p>
        </p:txBody>
      </p:sp>
      <p:sp>
        <p:nvSpPr>
          <p:cNvPr id="5" name="Rectangle 4"/>
          <p:cNvSpPr/>
          <p:nvPr/>
        </p:nvSpPr>
        <p:spPr>
          <a:xfrm>
            <a:off x="594360" y="6391656"/>
            <a:ext cx="11000232" cy="1097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CDE5DE"/>
                </a:solidFill>
                <a:latin typeface="Noto Sans Arabic"/>
                <a:ea typeface="Noto Sans Arabic"/>
                <a:cs typeface="Noto Sans Arabic"/>
              </a:rPr>
              <a:t>الوليد للتطوير العقاري  |  شرق النيل · بني سويف</a:t>
            </a:r>
          </a:p>
        </p:txBody>
      </p:sp>
      <p:sp>
        <p:nvSpPr>
          <p:cNvPr id="7" name="TextBox 6"/>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D8B36A"/>
                </a:solidFill>
                <a:latin typeface="Noto Sans Arabic"/>
                <a:ea typeface="Noto Sans Arabic"/>
                <a:cs typeface="Noto Sans Arabic"/>
              </a:rPr>
              <a:t>01</a:t>
            </a:r>
          </a:p>
        </p:txBody>
      </p:sp>
      <p:sp>
        <p:nvSpPr>
          <p:cNvPr id="8" name="TextBox 7"/>
          <p:cNvSpPr txBox="1"/>
          <p:nvPr/>
        </p:nvSpPr>
        <p:spPr>
          <a:xfrm>
            <a:off x="5715000" y="1097280"/>
            <a:ext cx="5669280" cy="1097280"/>
          </a:xfrm>
          <a:prstGeom prst="rect">
            <a:avLst/>
          </a:prstGeom>
          <a:noFill/>
        </p:spPr>
        <p:txBody>
          <a:bodyPr wrap="square" lIns="36576" rIns="36576" tIns="22860" bIns="0">
            <a:spAutoFit/>
          </a:bodyPr>
          <a:lstStyle/>
          <a:p>
            <a:pPr algn="r" rtl="1">
              <a:lnSpc>
                <a:spcPct val="110000"/>
              </a:lnSpc>
              <a:spcBef>
                <a:spcPts val="0"/>
              </a:spcBef>
              <a:spcAft>
                <a:spcPts val="800"/>
              </a:spcAft>
            </a:pPr>
            <a:r>
              <a:rPr sz="5800" b="1" lang="ar-EG">
                <a:solidFill>
                  <a:srgbClr val="FFFFFF"/>
                </a:solidFill>
                <a:latin typeface="Noto Sans Arabic"/>
                <a:ea typeface="Noto Sans Arabic"/>
                <a:cs typeface="Noto Sans Arabic"/>
              </a:rPr>
              <a:t>الوليد</a:t>
            </a:r>
          </a:p>
        </p:txBody>
      </p:sp>
      <p:sp>
        <p:nvSpPr>
          <p:cNvPr id="9" name="TextBox 8"/>
          <p:cNvSpPr txBox="1"/>
          <p:nvPr/>
        </p:nvSpPr>
        <p:spPr>
          <a:xfrm>
            <a:off x="5760720" y="2240280"/>
            <a:ext cx="5577840"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2500" b="1" lang="ar-EG">
                <a:solidFill>
                  <a:srgbClr val="D8B36A"/>
                </a:solidFill>
                <a:latin typeface="Noto Sans Arabic"/>
                <a:ea typeface="Noto Sans Arabic"/>
                <a:cs typeface="Noto Sans Arabic"/>
              </a:rPr>
              <a:t>للتطوير العقاري</a:t>
            </a:r>
          </a:p>
        </p:txBody>
      </p:sp>
      <p:sp>
        <p:nvSpPr>
          <p:cNvPr id="10" name="TextBox 9"/>
          <p:cNvSpPr txBox="1"/>
          <p:nvPr/>
        </p:nvSpPr>
        <p:spPr>
          <a:xfrm>
            <a:off x="5394960" y="3200400"/>
            <a:ext cx="5989320" cy="1371600"/>
          </a:xfrm>
          <a:prstGeom prst="rect">
            <a:avLst/>
          </a:prstGeom>
          <a:noFill/>
        </p:spPr>
        <p:txBody>
          <a:bodyPr wrap="square" lIns="36576" rIns="36576" tIns="22860" bIns="0">
            <a:spAutoFit/>
          </a:bodyPr>
          <a:lstStyle/>
          <a:p>
            <a:pPr algn="r" rtl="1">
              <a:lnSpc>
                <a:spcPct val="110000"/>
              </a:lnSpc>
              <a:spcBef>
                <a:spcPts val="0"/>
              </a:spcBef>
              <a:spcAft>
                <a:spcPts val="800"/>
              </a:spcAft>
            </a:pPr>
            <a:r>
              <a:rPr sz="3300" b="1" lang="ar-EG">
                <a:solidFill>
                  <a:srgbClr val="FFFFFF"/>
                </a:solidFill>
                <a:latin typeface="Noto Sans Arabic"/>
                <a:ea typeface="Noto Sans Arabic"/>
                <a:cs typeface="Noto Sans Arabic"/>
              </a:rPr>
              <a:t>من قيمة المشروع</a:t>
            </a:r>
          </a:p>
          <a:p>
            <a:pPr algn="r" rtl="1">
              <a:lnSpc>
                <a:spcPct val="110000"/>
              </a:lnSpc>
              <a:spcBef>
                <a:spcPts val="0"/>
              </a:spcBef>
              <a:spcAft>
                <a:spcPts val="800"/>
              </a:spcAft>
            </a:pPr>
            <a:r>
              <a:rPr sz="3300" b="1" lang="ar-EG">
                <a:solidFill>
                  <a:srgbClr val="FFFFFF"/>
                </a:solidFill>
                <a:latin typeface="Noto Sans Arabic"/>
                <a:ea typeface="Noto Sans Arabic"/>
                <a:cs typeface="Noto Sans Arabic"/>
              </a:rPr>
              <a:t>لمعاينة وحجز</a:t>
            </a:r>
          </a:p>
        </p:txBody>
      </p:sp>
      <p:sp>
        <p:nvSpPr>
          <p:cNvPr id="11" name="TextBox 10"/>
          <p:cNvSpPr txBox="1"/>
          <p:nvPr/>
        </p:nvSpPr>
        <p:spPr>
          <a:xfrm>
            <a:off x="5486400" y="4782312"/>
            <a:ext cx="5897880" cy="411480"/>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0" lang="ar-EG">
                <a:solidFill>
                  <a:srgbClr val="CDE5DE"/>
                </a:solidFill>
                <a:latin typeface="Noto Sans Arabic"/>
                <a:ea typeface="Noto Sans Arabic"/>
                <a:cs typeface="Noto Sans Arabic"/>
              </a:rPr>
              <a:t>شرق النيل · الحي الثالث · بني سويف</a:t>
            </a:r>
          </a:p>
        </p:txBody>
      </p:sp>
      <p:sp>
        <p:nvSpPr>
          <p:cNvPr id="12" name="Rounded Rectangle 11"/>
          <p:cNvSpPr/>
          <p:nvPr/>
        </p:nvSpPr>
        <p:spPr>
          <a:xfrm>
            <a:off x="8366760" y="5577840"/>
            <a:ext cx="297180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03336" y="5586983"/>
            <a:ext cx="289864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خطة عمل لمدة ٩٠ يوم</a:t>
            </a:r>
          </a:p>
        </p:txBody>
      </p:sp>
      <p:sp>
        <p:nvSpPr>
          <p:cNvPr id="14" name="Rectangle 13"/>
          <p:cNvSpPr/>
          <p:nvPr/>
        </p:nvSpPr>
        <p:spPr>
          <a:xfrm>
            <a:off x="914400" y="2560320"/>
            <a:ext cx="1051560" cy="3200400"/>
          </a:xfrm>
          <a:prstGeom prst="rect">
            <a:avLst/>
          </a:prstGeom>
          <a:solidFill>
            <a:srgbClr val="0A2029"/>
          </a:solidFill>
          <a:ln>
            <a:solidFill>
              <a:srgbClr val="176B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2560320"/>
            <a:ext cx="1051560" cy="5029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97280" y="292607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81328" y="292607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352043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81328" y="352043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7280" y="411480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481328" y="411480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470916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481328" y="470916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148840" y="1508760"/>
            <a:ext cx="1234440" cy="4251960"/>
          </a:xfrm>
          <a:prstGeom prst="rect">
            <a:avLst/>
          </a:prstGeom>
          <a:solidFill>
            <a:srgbClr val="0A2029"/>
          </a:solidFill>
          <a:ln>
            <a:solidFill>
              <a:srgbClr val="176B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48840" y="1508760"/>
            <a:ext cx="1234440" cy="5029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31720" y="187451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15768" y="187451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31720" y="246887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715768" y="246887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331720" y="306323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715768" y="3063239"/>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331720" y="365760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15768" y="365760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566160" y="3108960"/>
            <a:ext cx="1005840" cy="2651760"/>
          </a:xfrm>
          <a:prstGeom prst="rect">
            <a:avLst/>
          </a:prstGeom>
          <a:solidFill>
            <a:srgbClr val="0A2029"/>
          </a:solidFill>
          <a:ln>
            <a:solidFill>
              <a:srgbClr val="176B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66160" y="3108960"/>
            <a:ext cx="1005840" cy="5029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749039" y="347472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33087" y="347472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749039" y="406908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133087" y="406908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749039" y="466344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133087" y="466344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749039" y="525780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33087" y="5257800"/>
            <a:ext cx="164592" cy="25603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٠١ / الملخّص التنفيذي</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الموقع يجذب. الثقة تقنع. التفاصيل تحجز.</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هنبيع قيمة السكن الأول، ونستخدم العرض المالي لدعم القرار.</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02</a:t>
            </a:r>
          </a:p>
        </p:txBody>
      </p:sp>
      <p:sp>
        <p:nvSpPr>
          <p:cNvPr id="9" name="Rounded Rectangle 8"/>
          <p:cNvSpPr/>
          <p:nvPr/>
        </p:nvSpPr>
        <p:spPr>
          <a:xfrm>
            <a:off x="8028431" y="1965960"/>
            <a:ext cx="3566160" cy="34015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3"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01</a:t>
            </a:r>
          </a:p>
        </p:txBody>
      </p:sp>
      <p:sp>
        <p:nvSpPr>
          <p:cNvPr id="12" name="TextBox 11"/>
          <p:cNvSpPr txBox="1"/>
          <p:nvPr/>
        </p:nvSpPr>
        <p:spPr>
          <a:xfrm>
            <a:off x="8211311"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قيمة المكان</a:t>
            </a:r>
          </a:p>
        </p:txBody>
      </p:sp>
      <p:sp>
        <p:nvSpPr>
          <p:cNvPr id="13" name="TextBox 12"/>
          <p:cNvSpPr txBox="1"/>
          <p:nvPr/>
        </p:nvSpPr>
        <p:spPr>
          <a:xfrm>
            <a:off x="8211311" y="3648456"/>
            <a:ext cx="3154679" cy="1645920"/>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موقع واضح ومحيط فعلي</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وتجربة سكن مفهومة.</a:t>
            </a:r>
          </a:p>
        </p:txBody>
      </p:sp>
      <p:sp>
        <p:nvSpPr>
          <p:cNvPr id="14" name="Rounded Rectangle 13"/>
          <p:cNvSpPr/>
          <p:nvPr/>
        </p:nvSpPr>
        <p:spPr>
          <a:xfrm>
            <a:off x="4315968" y="1965960"/>
            <a:ext cx="3566160" cy="34015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8119"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02</a:t>
            </a:r>
          </a:p>
        </p:txBody>
      </p:sp>
      <p:sp>
        <p:nvSpPr>
          <p:cNvPr id="17" name="TextBox 16"/>
          <p:cNvSpPr txBox="1"/>
          <p:nvPr/>
        </p:nvSpPr>
        <p:spPr>
          <a:xfrm>
            <a:off x="4498848"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ثقة في التنفيذ</a:t>
            </a:r>
          </a:p>
        </p:txBody>
      </p:sp>
      <p:sp>
        <p:nvSpPr>
          <p:cNvPr id="18" name="TextBox 17"/>
          <p:cNvSpPr txBox="1"/>
          <p:nvPr/>
        </p:nvSpPr>
        <p:spPr>
          <a:xfrm>
            <a:off x="4498848" y="3648456"/>
            <a:ext cx="3154679" cy="1645920"/>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تقدّم بناء موثّق</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ومواصفات وتسليم واضحين.</a:t>
            </a:r>
          </a:p>
        </p:txBody>
      </p:sp>
      <p:sp>
        <p:nvSpPr>
          <p:cNvPr id="19" name="Rounded Rectangle 18"/>
          <p:cNvSpPr/>
          <p:nvPr/>
        </p:nvSpPr>
        <p:spPr>
          <a:xfrm>
            <a:off x="594360" y="1965960"/>
            <a:ext cx="3566160" cy="340156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96511"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03</a:t>
            </a:r>
          </a:p>
        </p:txBody>
      </p:sp>
      <p:sp>
        <p:nvSpPr>
          <p:cNvPr id="22" name="TextBox 21"/>
          <p:cNvSpPr txBox="1"/>
          <p:nvPr/>
        </p:nvSpPr>
        <p:spPr>
          <a:xfrm>
            <a:off x="777240"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عرض مالي مفهوم</a:t>
            </a:r>
          </a:p>
        </p:txBody>
      </p:sp>
      <p:sp>
        <p:nvSpPr>
          <p:cNvPr id="23" name="TextBox 22"/>
          <p:cNvSpPr txBox="1"/>
          <p:nvPr/>
        </p:nvSpPr>
        <p:spPr>
          <a:xfrm>
            <a:off x="777240" y="3648456"/>
            <a:ext cx="3154679" cy="1645920"/>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مقدم وأقساط ومصاريف</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قبل ما العميل ياخد قراره.</a:t>
            </a:r>
          </a:p>
        </p:txBody>
      </p:sp>
      <p:sp>
        <p:nvSpPr>
          <p:cNvPr id="24" name="TextBox 23"/>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النتيجة المطلوبة: استفسارات مناسبة ← معاينات فعلية ← حجوزات، مش عدد رسائل وخلاص.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٠١ / بطاقة المشروع</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المشروع في دقيقة</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المعلومات التالية حسب وصف المشروع المتاح من الشركة.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03</a:t>
            </a:r>
          </a:p>
        </p:txBody>
      </p:sp>
      <p:sp>
        <p:nvSpPr>
          <p:cNvPr id="9" name="Rounded Rectangle 8"/>
          <p:cNvSpPr/>
          <p:nvPr/>
        </p:nvSpPr>
        <p:spPr>
          <a:xfrm>
            <a:off x="8028431" y="1920240"/>
            <a:ext cx="3566160"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1"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سعر الشقة</a:t>
            </a:r>
          </a:p>
        </p:txBody>
      </p:sp>
      <p:sp>
        <p:nvSpPr>
          <p:cNvPr id="12" name="TextBox 11"/>
          <p:cNvSpPr txBox="1"/>
          <p:nvPr/>
        </p:nvSpPr>
        <p:spPr>
          <a:xfrm>
            <a:off x="8211311" y="2825496"/>
            <a:ext cx="3154679" cy="89611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١٬٨٠٠٬٠٠٠ جنيه</a:t>
            </a:r>
          </a:p>
        </p:txBody>
      </p:sp>
      <p:sp>
        <p:nvSpPr>
          <p:cNvPr id="13" name="Rounded Rectangle 12"/>
          <p:cNvSpPr/>
          <p:nvPr/>
        </p:nvSpPr>
        <p:spPr>
          <a:xfrm>
            <a:off x="4315968" y="1920240"/>
            <a:ext cx="3566160"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18119"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مقدم ٣٠٪</a:t>
            </a:r>
          </a:p>
        </p:txBody>
      </p:sp>
      <p:sp>
        <p:nvSpPr>
          <p:cNvPr id="16" name="TextBox 15"/>
          <p:cNvSpPr txBox="1"/>
          <p:nvPr/>
        </p:nvSpPr>
        <p:spPr>
          <a:xfrm>
            <a:off x="4498848" y="2825496"/>
            <a:ext cx="3154679" cy="89611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٥٤٠٬٠٠٠ جنيه</a:t>
            </a:r>
          </a:p>
        </p:txBody>
      </p:sp>
      <p:sp>
        <p:nvSpPr>
          <p:cNvPr id="17" name="Rounded Rectangle 16"/>
          <p:cNvSpPr/>
          <p:nvPr/>
        </p:nvSpPr>
        <p:spPr>
          <a:xfrm>
            <a:off x="594360" y="1920240"/>
            <a:ext cx="3566160" cy="1874519"/>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96511"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سداد على سنتين</a:t>
            </a:r>
          </a:p>
        </p:txBody>
      </p:sp>
      <p:sp>
        <p:nvSpPr>
          <p:cNvPr id="20" name="TextBox 19"/>
          <p:cNvSpPr txBox="1"/>
          <p:nvPr/>
        </p:nvSpPr>
        <p:spPr>
          <a:xfrm>
            <a:off x="777240" y="2825496"/>
            <a:ext cx="3154679" cy="89611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المتبقي: ١٬٢٦٠٬٠٠٠ جنيه</a:t>
            </a:r>
          </a:p>
        </p:txBody>
      </p:sp>
      <p:sp>
        <p:nvSpPr>
          <p:cNvPr id="21" name="Rounded Rectangle 20"/>
          <p:cNvSpPr/>
          <p:nvPr/>
        </p:nvSpPr>
        <p:spPr>
          <a:xfrm>
            <a:off x="594360" y="4069080"/>
            <a:ext cx="11000232" cy="1554480"/>
          </a:xfrm>
          <a:prstGeom prst="roundRect">
            <a:avLst>
              <a:gd name="adj" fmla="val 12000"/>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297680"/>
            <a:ext cx="10469880" cy="50292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FFFFFF"/>
                </a:solidFill>
                <a:latin typeface="Noto Sans Arabic"/>
                <a:ea typeface="Noto Sans Arabic"/>
                <a:cs typeface="Noto Sans Arabic"/>
              </a:rPr>
              <a:t>شرق النيل · الحي الثالث · طريق الأربع حارات</a:t>
            </a:r>
          </a:p>
        </p:txBody>
      </p:sp>
      <p:sp>
        <p:nvSpPr>
          <p:cNvPr id="23" name="TextBox 22"/>
          <p:cNvSpPr txBox="1"/>
          <p:nvPr/>
        </p:nvSpPr>
        <p:spPr>
          <a:xfrm>
            <a:off x="868680" y="4956048"/>
            <a:ext cx="10469880" cy="411480"/>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0" lang="ar-EG">
                <a:solidFill>
                  <a:srgbClr val="CDE5DE"/>
                </a:solidFill>
                <a:latin typeface="Noto Sans Arabic"/>
                <a:ea typeface="Noto Sans Arabic"/>
                <a:cs typeface="Noto Sans Arabic"/>
              </a:rPr>
              <a:t>أمام الكنيسة الأرثوذكسية · خلفه مدرسة سان جورج · بجوار كمباوند</a:t>
            </a:r>
          </a:p>
        </p:txBody>
      </p:sp>
      <p:sp>
        <p:nvSpPr>
          <p:cNvPr id="24" name="TextBox 23"/>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المشروع تحت الإنشاء، ومبنى سكني بطابع فيلا يضم أكتر من شقة. موعد التسليم والمواصفات لسه محتاجين تأكيد.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٠٢ / قراءة السوق</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نفرّق بين المعلومة والفرضية</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دي استراتيجية قابلة للتنفيذ؛ لكنها مش بديل عن دراسة أسعار ميدانية محدثة.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04</a:t>
            </a:r>
          </a:p>
        </p:txBody>
      </p:sp>
      <p:sp>
        <p:nvSpPr>
          <p:cNvPr id="9" name="Rectangle 8"/>
          <p:cNvSpPr/>
          <p:nvPr/>
        </p:nvSpPr>
        <p:spPr>
          <a:xfrm>
            <a:off x="7927848" y="1874519"/>
            <a:ext cx="3643884" cy="69037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19288" y="1965960"/>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معلومات من الشركة</a:t>
            </a:r>
          </a:p>
        </p:txBody>
      </p:sp>
      <p:sp>
        <p:nvSpPr>
          <p:cNvPr id="11" name="Rectangle 10"/>
          <p:cNvSpPr/>
          <p:nvPr/>
        </p:nvSpPr>
        <p:spPr>
          <a:xfrm>
            <a:off x="4261104" y="1874519"/>
            <a:ext cx="3643884" cy="69037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2544" y="1965960"/>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فرضيات هنختبرها</a:t>
            </a:r>
          </a:p>
        </p:txBody>
      </p:sp>
      <p:sp>
        <p:nvSpPr>
          <p:cNvPr id="13" name="Rectangle 12"/>
          <p:cNvSpPr/>
          <p:nvPr/>
        </p:nvSpPr>
        <p:spPr>
          <a:xfrm>
            <a:off x="594360" y="1874519"/>
            <a:ext cx="3643884" cy="69037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965960"/>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بيانات لازم نستكملها</a:t>
            </a:r>
          </a:p>
        </p:txBody>
      </p:sp>
      <p:sp>
        <p:nvSpPr>
          <p:cNvPr id="15" name="Rectangle 14"/>
          <p:cNvSpPr/>
          <p:nvPr/>
        </p:nvSpPr>
        <p:spPr>
          <a:xfrm>
            <a:off x="7927848" y="2587752"/>
            <a:ext cx="3643884"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19288" y="2679192"/>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الموقع ووصف المبنى</a:t>
            </a:r>
          </a:p>
        </p:txBody>
      </p:sp>
      <p:sp>
        <p:nvSpPr>
          <p:cNvPr id="17" name="Rectangle 16"/>
          <p:cNvSpPr/>
          <p:nvPr/>
        </p:nvSpPr>
        <p:spPr>
          <a:xfrm>
            <a:off x="4261104" y="2587752"/>
            <a:ext cx="3643884"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52544" y="2679192"/>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مدى جاذبية الموقع لكل شريحة</a:t>
            </a:r>
          </a:p>
        </p:txBody>
      </p:sp>
      <p:sp>
        <p:nvSpPr>
          <p:cNvPr id="19" name="Rectangle 18"/>
          <p:cNvSpPr/>
          <p:nvPr/>
        </p:nvSpPr>
        <p:spPr>
          <a:xfrm>
            <a:off x="594360" y="2587752"/>
            <a:ext cx="3643884"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679192"/>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المساحة والتقسيم والتشطيب</a:t>
            </a:r>
          </a:p>
        </p:txBody>
      </p:sp>
      <p:sp>
        <p:nvSpPr>
          <p:cNvPr id="21" name="Rectangle 20"/>
          <p:cNvSpPr/>
          <p:nvPr/>
        </p:nvSpPr>
        <p:spPr>
          <a:xfrm>
            <a:off x="7927848" y="3300984"/>
            <a:ext cx="3643884" cy="69037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19288" y="3392424"/>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السعر ومقدم ٣٠٪</a:t>
            </a:r>
          </a:p>
        </p:txBody>
      </p:sp>
      <p:sp>
        <p:nvSpPr>
          <p:cNvPr id="23" name="Rectangle 22"/>
          <p:cNvSpPr/>
          <p:nvPr/>
        </p:nvSpPr>
        <p:spPr>
          <a:xfrm>
            <a:off x="4261104" y="3300984"/>
            <a:ext cx="3643884" cy="69037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52544" y="3392424"/>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التفوق السعري على البدائل</a:t>
            </a:r>
          </a:p>
        </p:txBody>
      </p:sp>
      <p:sp>
        <p:nvSpPr>
          <p:cNvPr id="25" name="Rectangle 24"/>
          <p:cNvSpPr/>
          <p:nvPr/>
        </p:nvSpPr>
        <p:spPr>
          <a:xfrm>
            <a:off x="594360" y="3300984"/>
            <a:ext cx="3643884" cy="69037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موعد التسليم ومرحلة التنفيذ</a:t>
            </a:r>
          </a:p>
        </p:txBody>
      </p:sp>
      <p:sp>
        <p:nvSpPr>
          <p:cNvPr id="27" name="Rectangle 26"/>
          <p:cNvSpPr/>
          <p:nvPr/>
        </p:nvSpPr>
        <p:spPr>
          <a:xfrm>
            <a:off x="7927848" y="4014216"/>
            <a:ext cx="3643884"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19288" y="4105656"/>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المتبقي على سنتين</a:t>
            </a:r>
          </a:p>
        </p:txBody>
      </p:sp>
      <p:sp>
        <p:nvSpPr>
          <p:cNvPr id="29" name="Rectangle 28"/>
          <p:cNvSpPr/>
          <p:nvPr/>
        </p:nvSpPr>
        <p:spPr>
          <a:xfrm>
            <a:off x="4261104" y="4014216"/>
            <a:ext cx="3643884"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52544" y="4105656"/>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طلب إعادة البيع أو التأجير</a:t>
            </a:r>
          </a:p>
        </p:txBody>
      </p:sp>
      <p:sp>
        <p:nvSpPr>
          <p:cNvPr id="31" name="Rectangle 30"/>
          <p:cNvSpPr/>
          <p:nvPr/>
        </p:nvSpPr>
        <p:spPr>
          <a:xfrm>
            <a:off x="594360" y="4014216"/>
            <a:ext cx="3643884"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105656"/>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المستندات وسابقة الأعمال</a:t>
            </a:r>
          </a:p>
        </p:txBody>
      </p:sp>
      <p:sp>
        <p:nvSpPr>
          <p:cNvPr id="33" name="Rectangle 32"/>
          <p:cNvSpPr/>
          <p:nvPr/>
        </p:nvSpPr>
        <p:spPr>
          <a:xfrm>
            <a:off x="7927848" y="4727448"/>
            <a:ext cx="3643884" cy="69037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19288" y="4818888"/>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المشروع تحت الإنشاء</a:t>
            </a:r>
          </a:p>
        </p:txBody>
      </p:sp>
      <p:sp>
        <p:nvSpPr>
          <p:cNvPr id="35" name="Rectangle 34"/>
          <p:cNvSpPr/>
          <p:nvPr/>
        </p:nvSpPr>
        <p:spPr>
          <a:xfrm>
            <a:off x="4261104" y="4727448"/>
            <a:ext cx="3643884" cy="69037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52544" y="4818888"/>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ملاءمة العرض لعميل الهاي تيكت</a:t>
            </a:r>
          </a:p>
        </p:txBody>
      </p:sp>
      <p:sp>
        <p:nvSpPr>
          <p:cNvPr id="37" name="Rectangle 36"/>
          <p:cNvSpPr/>
          <p:nvPr/>
        </p:nvSpPr>
        <p:spPr>
          <a:xfrm>
            <a:off x="594360" y="4727448"/>
            <a:ext cx="3643884" cy="69037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818888"/>
            <a:ext cx="3456432" cy="58521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المخزون والميزانية والسداد الفعلي</a:t>
            </a:r>
          </a:p>
        </p:txBody>
      </p:sp>
      <p:sp>
        <p:nvSpPr>
          <p:cNvPr id="39" name="TextBox 38"/>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ادعاءات «الأرخص» و«أقل مقدم» غير متحققة حاليًا؛ ما تدخلش الحملات قبل إثباتها.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٠٢ / نطاق السوق</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المقارنة الصح تبدأ من أقرب بديل</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مش كل شقة في بني سويف تعتبر منافس مباشر للمشروع.</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05</a:t>
            </a:r>
          </a:p>
        </p:txBody>
      </p:sp>
      <p:sp>
        <p:nvSpPr>
          <p:cNvPr id="9" name="Rounded Rectangle 8"/>
          <p:cNvSpPr/>
          <p:nvPr/>
        </p:nvSpPr>
        <p:spPr>
          <a:xfrm>
            <a:off x="594360" y="1965960"/>
            <a:ext cx="11000232" cy="1051560"/>
          </a:xfrm>
          <a:prstGeom prst="roundRect">
            <a:avLst>
              <a:gd name="adj" fmla="val 12000"/>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75688"/>
            <a:ext cx="10634472" cy="384048"/>
          </a:xfrm>
          <a:prstGeom prst="rect">
            <a:avLst/>
          </a:prstGeom>
          <a:noFill/>
        </p:spPr>
        <p:txBody>
          <a:bodyPr wrap="square" lIns="36576" rIns="36576" tIns="22860" bIns="0">
            <a:spAutoFit/>
          </a:bodyPr>
          <a:lstStyle/>
          <a:p>
            <a:pPr algn="r" rtl="1">
              <a:lnSpc>
                <a:spcPct val="110000"/>
              </a:lnSpc>
              <a:spcBef>
                <a:spcPts val="0"/>
              </a:spcBef>
              <a:spcAft>
                <a:spcPts val="800"/>
              </a:spcAft>
            </a:pPr>
            <a:r>
              <a:rPr sz="2000" b="1" lang="ar-EG">
                <a:solidFill>
                  <a:srgbClr val="FFFFFF"/>
                </a:solidFill>
                <a:latin typeface="Noto Sans Arabic"/>
                <a:ea typeface="Noto Sans Arabic"/>
                <a:cs typeface="Noto Sans Arabic"/>
              </a:rPr>
              <a:t>١  |  الحي الثالث ومحيط المشروع</a:t>
            </a:r>
          </a:p>
        </p:txBody>
      </p:sp>
      <p:sp>
        <p:nvSpPr>
          <p:cNvPr id="11" name="TextBox 10"/>
          <p:cNvSpPr txBox="1"/>
          <p:nvPr/>
        </p:nvSpPr>
        <p:spPr>
          <a:xfrm>
            <a:off x="777240" y="2542032"/>
            <a:ext cx="10634472" cy="34747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CDE5DE"/>
                </a:solidFill>
                <a:latin typeface="Noto Sans Arabic"/>
                <a:ea typeface="Noto Sans Arabic"/>
                <a:cs typeface="Noto Sans Arabic"/>
              </a:rPr>
              <a:t>وحدات بمساحات وتشطيب وموعد تسليم قريبين.</a:t>
            </a:r>
          </a:p>
        </p:txBody>
      </p:sp>
      <p:sp>
        <p:nvSpPr>
          <p:cNvPr id="12" name="Rounded Rectangle 11"/>
          <p:cNvSpPr/>
          <p:nvPr/>
        </p:nvSpPr>
        <p:spPr>
          <a:xfrm>
            <a:off x="2221991" y="3246120"/>
            <a:ext cx="9372600" cy="1051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04872" y="3355848"/>
            <a:ext cx="9006840" cy="384048"/>
          </a:xfrm>
          <a:prstGeom prst="rect">
            <a:avLst/>
          </a:prstGeom>
          <a:noFill/>
        </p:spPr>
        <p:txBody>
          <a:bodyPr wrap="square" lIns="36576" rIns="36576" tIns="22860" bIns="0">
            <a:spAutoFit/>
          </a:bodyPr>
          <a:lstStyle/>
          <a:p>
            <a:pPr algn="r" rtl="1">
              <a:lnSpc>
                <a:spcPct val="110000"/>
              </a:lnSpc>
              <a:spcBef>
                <a:spcPts val="0"/>
              </a:spcBef>
              <a:spcAft>
                <a:spcPts val="800"/>
              </a:spcAft>
            </a:pPr>
            <a:r>
              <a:rPr sz="2000" b="1" lang="ar-EG">
                <a:solidFill>
                  <a:srgbClr val="163440"/>
                </a:solidFill>
                <a:latin typeface="Noto Sans Arabic"/>
                <a:ea typeface="Noto Sans Arabic"/>
                <a:cs typeface="Noto Sans Arabic"/>
              </a:rPr>
              <a:t>٢  |  بدائل شرق النيل</a:t>
            </a:r>
          </a:p>
        </p:txBody>
      </p:sp>
      <p:sp>
        <p:nvSpPr>
          <p:cNvPr id="14" name="TextBox 13"/>
          <p:cNvSpPr txBox="1"/>
          <p:nvPr/>
        </p:nvSpPr>
        <p:spPr>
          <a:xfrm>
            <a:off x="2404872" y="3822191"/>
            <a:ext cx="9006840" cy="34747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مقايضة بين الموقع والمساحة والاستلام ونظام السداد.</a:t>
            </a:r>
          </a:p>
        </p:txBody>
      </p:sp>
      <p:sp>
        <p:nvSpPr>
          <p:cNvPr id="15" name="Rounded Rectangle 14"/>
          <p:cNvSpPr/>
          <p:nvPr/>
        </p:nvSpPr>
        <p:spPr>
          <a:xfrm>
            <a:off x="3867912" y="4526280"/>
            <a:ext cx="7726679" cy="1051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50792" y="4636008"/>
            <a:ext cx="7360919" cy="384048"/>
          </a:xfrm>
          <a:prstGeom prst="rect">
            <a:avLst/>
          </a:prstGeom>
          <a:noFill/>
        </p:spPr>
        <p:txBody>
          <a:bodyPr wrap="square" lIns="36576" rIns="36576" tIns="22860" bIns="0">
            <a:spAutoFit/>
          </a:bodyPr>
          <a:lstStyle/>
          <a:p>
            <a:pPr algn="r" rtl="1">
              <a:lnSpc>
                <a:spcPct val="110000"/>
              </a:lnSpc>
              <a:spcBef>
                <a:spcPts val="0"/>
              </a:spcBef>
              <a:spcAft>
                <a:spcPts val="800"/>
              </a:spcAft>
            </a:pPr>
            <a:r>
              <a:rPr sz="2000" b="1" lang="ar-EG">
                <a:solidFill>
                  <a:srgbClr val="163440"/>
                </a:solidFill>
                <a:latin typeface="Noto Sans Arabic"/>
                <a:ea typeface="Noto Sans Arabic"/>
                <a:cs typeface="Noto Sans Arabic"/>
              </a:rPr>
              <a:t>٣  |  بدائل مدينة بني سويف</a:t>
            </a:r>
          </a:p>
        </p:txBody>
      </p:sp>
      <p:sp>
        <p:nvSpPr>
          <p:cNvPr id="17" name="TextBox 16"/>
          <p:cNvSpPr txBox="1"/>
          <p:nvPr/>
        </p:nvSpPr>
        <p:spPr>
          <a:xfrm>
            <a:off x="4050792" y="5102352"/>
            <a:ext cx="7360919" cy="34747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نفهم اختيار العميل بين الموقع واحتياجات الشغل والأهل والخدمات.</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D38"/>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D8B36A"/>
                </a:solidFill>
                <a:latin typeface="Noto Sans Arabic"/>
                <a:ea typeface="Noto Sans Arabic"/>
                <a:cs typeface="Noto Sans Arabic"/>
              </a:rPr>
              <a:t>٠٢ / ملاءمة العرض</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FFFFFF"/>
                </a:solidFill>
                <a:latin typeface="Noto Sans Arabic"/>
                <a:ea typeface="Noto Sans Arabic"/>
                <a:cs typeface="Noto Sans Arabic"/>
              </a:rPr>
              <a:t>المقدم يفتح الحوار… والقسط يحسم الملاءمة</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CDE5DE"/>
                </a:solidFill>
                <a:latin typeface="Noto Sans Arabic"/>
                <a:ea typeface="Noto Sans Arabic"/>
                <a:cs typeface="Noto Sans Arabic"/>
              </a:rPr>
              <a:t>لازم نوضح الالتزام المالي قبل ما نوصف السداد بأنه مريح.</a:t>
            </a:r>
          </a:p>
        </p:txBody>
      </p:sp>
      <p:sp>
        <p:nvSpPr>
          <p:cNvPr id="6" name="Rectangle 5"/>
          <p:cNvSpPr/>
          <p:nvPr/>
        </p:nvSpPr>
        <p:spPr>
          <a:xfrm>
            <a:off x="594360" y="6391656"/>
            <a:ext cx="11000232" cy="1097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CDE5DE"/>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D8B36A"/>
                </a:solidFill>
                <a:latin typeface="Noto Sans Arabic"/>
                <a:ea typeface="Noto Sans Arabic"/>
                <a:cs typeface="Noto Sans Arabic"/>
              </a:rPr>
              <a:t>06</a:t>
            </a:r>
          </a:p>
        </p:txBody>
      </p:sp>
      <p:sp>
        <p:nvSpPr>
          <p:cNvPr id="9" name="Rounded Rectangle 8"/>
          <p:cNvSpPr/>
          <p:nvPr/>
        </p:nvSpPr>
        <p:spPr>
          <a:xfrm>
            <a:off x="8028431" y="1965960"/>
            <a:ext cx="3566160" cy="242316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3"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D8B36A"/>
                </a:solidFill>
                <a:latin typeface="Noto Sans Arabic"/>
                <a:ea typeface="Noto Sans Arabic"/>
                <a:cs typeface="Noto Sans Arabic"/>
              </a:rPr>
              <a:t>٥٤٠ ألف</a:t>
            </a:r>
          </a:p>
        </p:txBody>
      </p:sp>
      <p:sp>
        <p:nvSpPr>
          <p:cNvPr id="12" name="TextBox 11"/>
          <p:cNvSpPr txBox="1"/>
          <p:nvPr/>
        </p:nvSpPr>
        <p:spPr>
          <a:xfrm>
            <a:off x="8211311"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FFFFFF"/>
                </a:solidFill>
                <a:latin typeface="Noto Sans Arabic"/>
                <a:ea typeface="Noto Sans Arabic"/>
                <a:cs typeface="Noto Sans Arabic"/>
              </a:rPr>
              <a:t>المقدم</a:t>
            </a:r>
          </a:p>
        </p:txBody>
      </p:sp>
      <p:sp>
        <p:nvSpPr>
          <p:cNvPr id="13" name="TextBox 12"/>
          <p:cNvSpPr txBox="1"/>
          <p:nvPr/>
        </p:nvSpPr>
        <p:spPr>
          <a:xfrm>
            <a:off x="8211311" y="3648456"/>
            <a:ext cx="3154679" cy="66751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CDE5DE"/>
                </a:solidFill>
                <a:latin typeface="Noto Sans Arabic"/>
                <a:ea typeface="Noto Sans Arabic"/>
                <a:cs typeface="Noto Sans Arabic"/>
              </a:rPr>
              <a:t>٣٠٪ من إجمالي السعر</a:t>
            </a:r>
          </a:p>
        </p:txBody>
      </p:sp>
      <p:sp>
        <p:nvSpPr>
          <p:cNvPr id="14" name="Rounded Rectangle 13"/>
          <p:cNvSpPr/>
          <p:nvPr/>
        </p:nvSpPr>
        <p:spPr>
          <a:xfrm>
            <a:off x="4315968" y="1965960"/>
            <a:ext cx="3566160" cy="242316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8119"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D8B36A"/>
                </a:solidFill>
                <a:latin typeface="Noto Sans Arabic"/>
                <a:ea typeface="Noto Sans Arabic"/>
                <a:cs typeface="Noto Sans Arabic"/>
              </a:rPr>
              <a:t>١٫٢٦ مليون</a:t>
            </a:r>
          </a:p>
        </p:txBody>
      </p:sp>
      <p:sp>
        <p:nvSpPr>
          <p:cNvPr id="17" name="TextBox 16"/>
          <p:cNvSpPr txBox="1"/>
          <p:nvPr/>
        </p:nvSpPr>
        <p:spPr>
          <a:xfrm>
            <a:off x="4498848"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FFFFFF"/>
                </a:solidFill>
                <a:latin typeface="Noto Sans Arabic"/>
                <a:ea typeface="Noto Sans Arabic"/>
                <a:cs typeface="Noto Sans Arabic"/>
              </a:rPr>
              <a:t>المتبقي</a:t>
            </a:r>
          </a:p>
        </p:txBody>
      </p:sp>
      <p:sp>
        <p:nvSpPr>
          <p:cNvPr id="18" name="TextBox 17"/>
          <p:cNvSpPr txBox="1"/>
          <p:nvPr/>
        </p:nvSpPr>
        <p:spPr>
          <a:xfrm>
            <a:off x="4498848" y="3648456"/>
            <a:ext cx="3154679" cy="66751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CDE5DE"/>
                </a:solidFill>
                <a:latin typeface="Noto Sans Arabic"/>
                <a:ea typeface="Noto Sans Arabic"/>
                <a:cs typeface="Noto Sans Arabic"/>
              </a:rPr>
              <a:t>بعد سداد المقدم</a:t>
            </a:r>
          </a:p>
        </p:txBody>
      </p:sp>
      <p:sp>
        <p:nvSpPr>
          <p:cNvPr id="19" name="Rounded Rectangle 18"/>
          <p:cNvSpPr/>
          <p:nvPr/>
        </p:nvSpPr>
        <p:spPr>
          <a:xfrm>
            <a:off x="594360" y="1965960"/>
            <a:ext cx="3566160" cy="242316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96511"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D8B36A"/>
                </a:solidFill>
                <a:latin typeface="Noto Sans Arabic"/>
                <a:ea typeface="Noto Sans Arabic"/>
                <a:cs typeface="Noto Sans Arabic"/>
              </a:rPr>
              <a:t>٥٢٫٥ ألف</a:t>
            </a:r>
          </a:p>
        </p:txBody>
      </p:sp>
      <p:sp>
        <p:nvSpPr>
          <p:cNvPr id="22" name="TextBox 21"/>
          <p:cNvSpPr txBox="1"/>
          <p:nvPr/>
        </p:nvSpPr>
        <p:spPr>
          <a:xfrm>
            <a:off x="777240"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FFFFFF"/>
                </a:solidFill>
                <a:latin typeface="Noto Sans Arabic"/>
                <a:ea typeface="Noto Sans Arabic"/>
                <a:cs typeface="Noto Sans Arabic"/>
              </a:rPr>
              <a:t>شهريًا — افتراضي</a:t>
            </a:r>
          </a:p>
        </p:txBody>
      </p:sp>
      <p:sp>
        <p:nvSpPr>
          <p:cNvPr id="23" name="TextBox 22"/>
          <p:cNvSpPr txBox="1"/>
          <p:nvPr/>
        </p:nvSpPr>
        <p:spPr>
          <a:xfrm>
            <a:off x="777240" y="3648456"/>
            <a:ext cx="3154679" cy="66751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CDE5DE"/>
                </a:solidFill>
                <a:latin typeface="Noto Sans Arabic"/>
                <a:ea typeface="Noto Sans Arabic"/>
                <a:cs typeface="Noto Sans Arabic"/>
              </a:rPr>
              <a:t>لو ٢٤ قسط متساوي</a:t>
            </a:r>
          </a:p>
        </p:txBody>
      </p:sp>
      <p:sp>
        <p:nvSpPr>
          <p:cNvPr id="24" name="TextBox 23"/>
          <p:cNvSpPr txBox="1"/>
          <p:nvPr/>
        </p:nvSpPr>
        <p:spPr>
          <a:xfrm>
            <a:off x="731520" y="4754880"/>
            <a:ext cx="10789920"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2400" b="1" lang="ar-EG">
                <a:solidFill>
                  <a:srgbClr val="FFFFFF"/>
                </a:solidFill>
                <a:latin typeface="Noto Sans Arabic"/>
                <a:ea typeface="Noto Sans Arabic"/>
                <a:cs typeface="Noto Sans Arabic"/>
              </a:rPr>
              <a:t>الرسالة الأنسب: «ابدأ بمقدم ٣٠٪ واعرف جدول السداد كامل».</a:t>
            </a:r>
          </a:p>
        </p:txBody>
      </p:sp>
      <p:sp>
        <p:nvSpPr>
          <p:cNvPr id="25" name="TextBox 24"/>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CDE5DE"/>
                </a:solidFill>
                <a:latin typeface="Noto Sans Arabic"/>
                <a:ea typeface="Noto Sans Arabic"/>
                <a:cs typeface="Noto Sans Arabic"/>
              </a:rPr>
              <a:t>الحساب بدون فوائد أو دفعات إضافية. القسط هنا مثال حسابي؛ مش تأكيد لجدول الشركة. أقل نسبة مقدم مش بالضرورة أقل مبلغ.</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٠٢ / شرائح الجمهور</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خمس شرائح… وخمس دوافع شراء</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دي فرضيات جمهور للاختبار، مش نتائج مسح فعلي للمشترين.</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07</a:t>
            </a:r>
          </a:p>
        </p:txBody>
      </p:sp>
      <p:sp>
        <p:nvSpPr>
          <p:cNvPr id="9" name="Rectangle 8"/>
          <p:cNvSpPr/>
          <p:nvPr/>
        </p:nvSpPr>
        <p:spPr>
          <a:xfrm>
            <a:off x="8805672" y="1874519"/>
            <a:ext cx="2766060"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97111" y="1965960"/>
            <a:ext cx="25786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الشريحة</a:t>
            </a:r>
          </a:p>
        </p:txBody>
      </p:sp>
      <p:sp>
        <p:nvSpPr>
          <p:cNvPr id="11" name="Rectangle 10"/>
          <p:cNvSpPr/>
          <p:nvPr/>
        </p:nvSpPr>
        <p:spPr>
          <a:xfrm>
            <a:off x="5102351" y="1874519"/>
            <a:ext cx="3680459"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93791" y="1965960"/>
            <a:ext cx="34930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دافع الشراء</a:t>
            </a:r>
          </a:p>
        </p:txBody>
      </p:sp>
      <p:sp>
        <p:nvSpPr>
          <p:cNvPr id="13" name="Rectangle 12"/>
          <p:cNvSpPr/>
          <p:nvPr/>
        </p:nvSpPr>
        <p:spPr>
          <a:xfrm>
            <a:off x="594359" y="1874519"/>
            <a:ext cx="4485131"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1965960"/>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الدليل اللي محتاجه</a:t>
            </a:r>
          </a:p>
        </p:txBody>
      </p:sp>
      <p:sp>
        <p:nvSpPr>
          <p:cNvPr id="15" name="Rectangle 14"/>
          <p:cNvSpPr/>
          <p:nvPr/>
        </p:nvSpPr>
        <p:spPr>
          <a:xfrm>
            <a:off x="8805672" y="2496312"/>
            <a:ext cx="2766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7111" y="2587752"/>
            <a:ext cx="25786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مستثمر إعادة البيع</a:t>
            </a:r>
          </a:p>
        </p:txBody>
      </p:sp>
      <p:sp>
        <p:nvSpPr>
          <p:cNvPr id="17" name="Rectangle 16"/>
          <p:cNvSpPr/>
          <p:nvPr/>
        </p:nvSpPr>
        <p:spPr>
          <a:xfrm>
            <a:off x="5102351" y="2496312"/>
            <a:ext cx="368045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93791" y="2587752"/>
            <a:ext cx="34930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سعر دخول وفرصة خروج</a:t>
            </a:r>
          </a:p>
        </p:txBody>
      </p:sp>
      <p:sp>
        <p:nvSpPr>
          <p:cNvPr id="19" name="Rectangle 18"/>
          <p:cNvSpPr/>
          <p:nvPr/>
        </p:nvSpPr>
        <p:spPr>
          <a:xfrm>
            <a:off x="594359" y="2496312"/>
            <a:ext cx="448513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799" y="2587752"/>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مقارنة سعرية + وضوح التسليم</a:t>
            </a:r>
          </a:p>
        </p:txBody>
      </p:sp>
      <p:sp>
        <p:nvSpPr>
          <p:cNvPr id="21" name="Rectangle 20"/>
          <p:cNvSpPr/>
          <p:nvPr/>
        </p:nvSpPr>
        <p:spPr>
          <a:xfrm>
            <a:off x="8805672" y="3118104"/>
            <a:ext cx="276606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7111" y="3209544"/>
            <a:ext cx="25786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سكن بمعيشة راقية</a:t>
            </a:r>
          </a:p>
        </p:txBody>
      </p:sp>
      <p:sp>
        <p:nvSpPr>
          <p:cNvPr id="23" name="Rectangle 22"/>
          <p:cNvSpPr/>
          <p:nvPr/>
        </p:nvSpPr>
        <p:spPr>
          <a:xfrm>
            <a:off x="5102351" y="3118104"/>
            <a:ext cx="3680459"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93791" y="3209544"/>
            <a:ext cx="34930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موقع وتقسيم وراحة</a:t>
            </a:r>
          </a:p>
        </p:txBody>
      </p:sp>
      <p:sp>
        <p:nvSpPr>
          <p:cNvPr id="25" name="Rectangle 24"/>
          <p:cNvSpPr/>
          <p:nvPr/>
        </p:nvSpPr>
        <p:spPr>
          <a:xfrm>
            <a:off x="594359" y="3118104"/>
            <a:ext cx="4485131"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3209544"/>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مخطط + مواصفات + زيارة</a:t>
            </a:r>
          </a:p>
        </p:txBody>
      </p:sp>
      <p:sp>
        <p:nvSpPr>
          <p:cNvPr id="27" name="Rectangle 26"/>
          <p:cNvSpPr/>
          <p:nvPr/>
        </p:nvSpPr>
        <p:spPr>
          <a:xfrm>
            <a:off x="8805672" y="3739896"/>
            <a:ext cx="2766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7111" y="3831335"/>
            <a:ext cx="25786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مشتري بغرض التأجير</a:t>
            </a:r>
          </a:p>
        </p:txBody>
      </p:sp>
      <p:sp>
        <p:nvSpPr>
          <p:cNvPr id="29" name="Rectangle 28"/>
          <p:cNvSpPr/>
          <p:nvPr/>
        </p:nvSpPr>
        <p:spPr>
          <a:xfrm>
            <a:off x="5102351" y="3739896"/>
            <a:ext cx="368045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93791" y="3831335"/>
            <a:ext cx="34930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دخل إيجاري بعد المصاريف</a:t>
            </a:r>
          </a:p>
        </p:txBody>
      </p:sp>
      <p:sp>
        <p:nvSpPr>
          <p:cNvPr id="31" name="Rectangle 30"/>
          <p:cNvSpPr/>
          <p:nvPr/>
        </p:nvSpPr>
        <p:spPr>
          <a:xfrm>
            <a:off x="594359" y="3739896"/>
            <a:ext cx="448513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799" y="3831335"/>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إيجارات مماثلة وطلب متحقق</a:t>
            </a:r>
          </a:p>
        </p:txBody>
      </p:sp>
      <p:sp>
        <p:nvSpPr>
          <p:cNvPr id="33" name="Rectangle 32"/>
          <p:cNvSpPr/>
          <p:nvPr/>
        </p:nvSpPr>
        <p:spPr>
          <a:xfrm>
            <a:off x="8805672" y="4361688"/>
            <a:ext cx="276606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97111" y="4453127"/>
            <a:ext cx="25786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باحث عن قسط مريح</a:t>
            </a:r>
          </a:p>
        </p:txBody>
      </p:sp>
      <p:sp>
        <p:nvSpPr>
          <p:cNvPr id="35" name="Rectangle 34"/>
          <p:cNvSpPr/>
          <p:nvPr/>
        </p:nvSpPr>
        <p:spPr>
          <a:xfrm>
            <a:off x="5102351" y="4361688"/>
            <a:ext cx="3680459"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93791" y="4453127"/>
            <a:ext cx="34930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التزام يقدر يكمله</a:t>
            </a:r>
          </a:p>
        </p:txBody>
      </p:sp>
      <p:sp>
        <p:nvSpPr>
          <p:cNvPr id="37" name="Rectangle 36"/>
          <p:cNvSpPr/>
          <p:nvPr/>
        </p:nvSpPr>
        <p:spPr>
          <a:xfrm>
            <a:off x="594359" y="4361688"/>
            <a:ext cx="4485131"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799" y="4453127"/>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جدول سداد كامل ومصاريف واضحة</a:t>
            </a:r>
          </a:p>
        </p:txBody>
      </p:sp>
      <p:sp>
        <p:nvSpPr>
          <p:cNvPr id="39" name="Rectangle 38"/>
          <p:cNvSpPr/>
          <p:nvPr/>
        </p:nvSpPr>
        <p:spPr>
          <a:xfrm>
            <a:off x="8805672" y="4983479"/>
            <a:ext cx="276606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97111" y="5074919"/>
            <a:ext cx="25786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عميل هاي تيكت</a:t>
            </a:r>
          </a:p>
        </p:txBody>
      </p:sp>
      <p:sp>
        <p:nvSpPr>
          <p:cNvPr id="41" name="Rectangle 40"/>
          <p:cNvSpPr/>
          <p:nvPr/>
        </p:nvSpPr>
        <p:spPr>
          <a:xfrm>
            <a:off x="5102351" y="4983479"/>
            <a:ext cx="368045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93791" y="5074919"/>
            <a:ext cx="349300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خصوصية وجودة وخدمة</a:t>
            </a:r>
          </a:p>
        </p:txBody>
      </p:sp>
      <p:sp>
        <p:nvSpPr>
          <p:cNvPr id="43" name="Rectangle 42"/>
          <p:cNvSpPr/>
          <p:nvPr/>
        </p:nvSpPr>
        <p:spPr>
          <a:xfrm>
            <a:off x="594359" y="4983479"/>
            <a:ext cx="448513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799" y="5074919"/>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تفاصيل فعلية تثبت التجربة</a:t>
            </a:r>
          </a:p>
        </p:txBody>
      </p:sp>
      <p:sp>
        <p:nvSpPr>
          <p:cNvPr id="45" name="TextBox 44"/>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رسالة واحدة لكل الناس هتزود الرسائل غير المناسبة. نقسم الإبداعات حسب دافع الشراء.</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٠٢ / أولوية الاستهداف</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نبدأ بالعميل اللي العرض مناسب له</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الأولوية مبنية على ملاءمة المنتج وقدرة السداد، وتتعدل بالنتائج.</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08</a:t>
            </a:r>
          </a:p>
        </p:txBody>
      </p:sp>
      <p:sp>
        <p:nvSpPr>
          <p:cNvPr id="9" name="Rounded Rectangle 8"/>
          <p:cNvSpPr/>
          <p:nvPr/>
        </p:nvSpPr>
        <p:spPr>
          <a:xfrm>
            <a:off x="6217920" y="1920240"/>
            <a:ext cx="5376672"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2130552"/>
            <a:ext cx="5010912"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01</a:t>
            </a:r>
          </a:p>
        </p:txBody>
      </p:sp>
      <p:sp>
        <p:nvSpPr>
          <p:cNvPr id="12" name="TextBox 11"/>
          <p:cNvSpPr txBox="1"/>
          <p:nvPr/>
        </p:nvSpPr>
        <p:spPr>
          <a:xfrm>
            <a:off x="6400800" y="290779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أولوية أولى</a:t>
            </a:r>
          </a:p>
        </p:txBody>
      </p:sp>
      <p:sp>
        <p:nvSpPr>
          <p:cNvPr id="13" name="TextBox 12"/>
          <p:cNvSpPr txBox="1"/>
          <p:nvPr/>
        </p:nvSpPr>
        <p:spPr>
          <a:xfrm>
            <a:off x="6400800" y="3602736"/>
            <a:ext cx="4965192" cy="15819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عميل سكن عنده سيولة وعايز يطور سكنه.</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مستثمر يقدر يسدد خلال سنتين.</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المقارنة السعرية لازم تدعم العرض.</a:t>
            </a:r>
          </a:p>
        </p:txBody>
      </p:sp>
      <p:sp>
        <p:nvSpPr>
          <p:cNvPr id="14" name="Rounded Rectangle 13"/>
          <p:cNvSpPr/>
          <p:nvPr/>
        </p:nvSpPr>
        <p:spPr>
          <a:xfrm>
            <a:off x="594360" y="1920240"/>
            <a:ext cx="5376672" cy="33375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0702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2130552"/>
            <a:ext cx="5010912"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02</a:t>
            </a:r>
          </a:p>
        </p:txBody>
      </p:sp>
      <p:sp>
        <p:nvSpPr>
          <p:cNvPr id="17" name="TextBox 16"/>
          <p:cNvSpPr txBox="1"/>
          <p:nvPr/>
        </p:nvSpPr>
        <p:spPr>
          <a:xfrm>
            <a:off x="777240" y="290779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اختبارات محدودة</a:t>
            </a:r>
          </a:p>
        </p:txBody>
      </p:sp>
      <p:sp>
        <p:nvSpPr>
          <p:cNvPr id="18" name="TextBox 17"/>
          <p:cNvSpPr txBox="1"/>
          <p:nvPr/>
        </p:nvSpPr>
        <p:spPr>
          <a:xfrm>
            <a:off x="777240" y="3602736"/>
            <a:ext cx="4965192" cy="15819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مصريين بالخارج من أبناء بني سويف.</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مشتري تأجير بعد التحقق من الطلب.</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هاي تيكت بعد تأكيد المواصفات.</a:t>
            </a:r>
          </a:p>
        </p:txBody>
      </p:sp>
      <p:sp>
        <p:nvSpPr>
          <p:cNvPr id="19" name="TextBox 18"/>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طابع الفيلا لوحده مش دليل رفاهية؛ نراجع عدد الوحدات، المدخل، الجراج، الخامات والإدارة.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٠٣ / المنافسة</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المنافس هو البديل اللي العميل ممكن يختاره</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ننافس بالمقارنة والأدلة، مش بوعود عامة.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09</a:t>
            </a:r>
          </a:p>
        </p:txBody>
      </p:sp>
      <p:sp>
        <p:nvSpPr>
          <p:cNvPr id="9" name="Rectangle 8"/>
          <p:cNvSpPr/>
          <p:nvPr/>
        </p:nvSpPr>
        <p:spPr>
          <a:xfrm>
            <a:off x="8439912" y="1874519"/>
            <a:ext cx="3131820"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31352" y="1965960"/>
            <a:ext cx="294436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1" lang="ar-EG">
                <a:solidFill>
                  <a:srgbClr val="FFFFFF"/>
                </a:solidFill>
                <a:latin typeface="Noto Sans Arabic"/>
                <a:ea typeface="Noto Sans Arabic"/>
                <a:cs typeface="Noto Sans Arabic"/>
              </a:rPr>
              <a:t>البديل</a:t>
            </a:r>
          </a:p>
        </p:txBody>
      </p:sp>
      <p:sp>
        <p:nvSpPr>
          <p:cNvPr id="11" name="Rectangle 10"/>
          <p:cNvSpPr/>
          <p:nvPr/>
        </p:nvSpPr>
        <p:spPr>
          <a:xfrm>
            <a:off x="5102352" y="1874519"/>
            <a:ext cx="3314700"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93792" y="1965960"/>
            <a:ext cx="3127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1" lang="ar-EG">
                <a:solidFill>
                  <a:srgbClr val="FFFFFF"/>
                </a:solidFill>
                <a:latin typeface="Noto Sans Arabic"/>
                <a:ea typeface="Noto Sans Arabic"/>
                <a:cs typeface="Noto Sans Arabic"/>
              </a:rPr>
              <a:t>نقطة جذبه</a:t>
            </a:r>
          </a:p>
        </p:txBody>
      </p:sp>
      <p:sp>
        <p:nvSpPr>
          <p:cNvPr id="13" name="Rectangle 12"/>
          <p:cNvSpPr/>
          <p:nvPr/>
        </p:nvSpPr>
        <p:spPr>
          <a:xfrm>
            <a:off x="594360" y="1874519"/>
            <a:ext cx="4485131"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965960"/>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1" lang="ar-EG">
                <a:solidFill>
                  <a:srgbClr val="FFFFFF"/>
                </a:solidFill>
                <a:latin typeface="Noto Sans Arabic"/>
                <a:ea typeface="Noto Sans Arabic"/>
                <a:cs typeface="Noto Sans Arabic"/>
              </a:rPr>
              <a:t>ردّ الوليد</a:t>
            </a:r>
          </a:p>
        </p:txBody>
      </p:sp>
      <p:sp>
        <p:nvSpPr>
          <p:cNvPr id="15" name="Rectangle 14"/>
          <p:cNvSpPr/>
          <p:nvPr/>
        </p:nvSpPr>
        <p:spPr>
          <a:xfrm>
            <a:off x="8439912" y="2496312"/>
            <a:ext cx="3131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31352" y="2587752"/>
            <a:ext cx="294436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تحت الإنشاء بالحي الثالث</a:t>
            </a:r>
          </a:p>
        </p:txBody>
      </p:sp>
      <p:sp>
        <p:nvSpPr>
          <p:cNvPr id="17" name="Rectangle 16"/>
          <p:cNvSpPr/>
          <p:nvPr/>
        </p:nvSpPr>
        <p:spPr>
          <a:xfrm>
            <a:off x="5102352" y="2496312"/>
            <a:ext cx="331470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93792" y="2587752"/>
            <a:ext cx="3127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تشابه الموقع والعرض</a:t>
            </a:r>
          </a:p>
        </p:txBody>
      </p:sp>
      <p:sp>
        <p:nvSpPr>
          <p:cNvPr id="19" name="Rectangle 18"/>
          <p:cNvSpPr/>
          <p:nvPr/>
        </p:nvSpPr>
        <p:spPr>
          <a:xfrm>
            <a:off x="594360" y="2496312"/>
            <a:ext cx="448513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587752"/>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تفاصيل المساحة والمواصفات والسداد</a:t>
            </a:r>
          </a:p>
        </p:txBody>
      </p:sp>
      <p:sp>
        <p:nvSpPr>
          <p:cNvPr id="21" name="Rectangle 20"/>
          <p:cNvSpPr/>
          <p:nvPr/>
        </p:nvSpPr>
        <p:spPr>
          <a:xfrm>
            <a:off x="8439912" y="3118104"/>
            <a:ext cx="313182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31352" y="3209544"/>
            <a:ext cx="294436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جاهز للاستلام بشرق النيل</a:t>
            </a:r>
          </a:p>
        </p:txBody>
      </p:sp>
      <p:sp>
        <p:nvSpPr>
          <p:cNvPr id="23" name="Rectangle 22"/>
          <p:cNvSpPr/>
          <p:nvPr/>
        </p:nvSpPr>
        <p:spPr>
          <a:xfrm>
            <a:off x="5102352" y="3118104"/>
            <a:ext cx="331470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93792" y="3209544"/>
            <a:ext cx="3127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منتج نهائي يقدر يعاينه</a:t>
            </a:r>
          </a:p>
        </p:txBody>
      </p:sp>
      <p:sp>
        <p:nvSpPr>
          <p:cNvPr id="25" name="Rectangle 24"/>
          <p:cNvSpPr/>
          <p:nvPr/>
        </p:nvSpPr>
        <p:spPr>
          <a:xfrm>
            <a:off x="594360" y="3118104"/>
            <a:ext cx="4485131"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209544"/>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إثبات التنفيذ وموعد تسليم واضح</a:t>
            </a:r>
          </a:p>
        </p:txBody>
      </p:sp>
      <p:sp>
        <p:nvSpPr>
          <p:cNvPr id="27" name="Rectangle 26"/>
          <p:cNvSpPr/>
          <p:nvPr/>
        </p:nvSpPr>
        <p:spPr>
          <a:xfrm>
            <a:off x="8439912" y="3739896"/>
            <a:ext cx="3131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31352" y="3831335"/>
            <a:ext cx="294436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وحدة داخل كمباوند</a:t>
            </a:r>
          </a:p>
        </p:txBody>
      </p:sp>
      <p:sp>
        <p:nvSpPr>
          <p:cNvPr id="29" name="Rectangle 28"/>
          <p:cNvSpPr/>
          <p:nvPr/>
        </p:nvSpPr>
        <p:spPr>
          <a:xfrm>
            <a:off x="5102352" y="3739896"/>
            <a:ext cx="331470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93792" y="3831335"/>
            <a:ext cx="3127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خدمات وإدارة وصورة اجتماعية</a:t>
            </a:r>
          </a:p>
        </p:txBody>
      </p:sp>
      <p:sp>
        <p:nvSpPr>
          <p:cNvPr id="31" name="Rectangle 30"/>
          <p:cNvSpPr/>
          <p:nvPr/>
        </p:nvSpPr>
        <p:spPr>
          <a:xfrm>
            <a:off x="594360" y="3739896"/>
            <a:ext cx="448513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831335"/>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مميزات مشروعنا الفعلية وتكلفتها</a:t>
            </a:r>
          </a:p>
        </p:txBody>
      </p:sp>
      <p:sp>
        <p:nvSpPr>
          <p:cNvPr id="33" name="Rectangle 32"/>
          <p:cNvSpPr/>
          <p:nvPr/>
        </p:nvSpPr>
        <p:spPr>
          <a:xfrm>
            <a:off x="8439912" y="4361688"/>
            <a:ext cx="313182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31352" y="4453127"/>
            <a:ext cx="294436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سكن داخل المدينة</a:t>
            </a:r>
          </a:p>
        </p:txBody>
      </p:sp>
      <p:sp>
        <p:nvSpPr>
          <p:cNvPr id="35" name="Rectangle 34"/>
          <p:cNvSpPr/>
          <p:nvPr/>
        </p:nvSpPr>
        <p:spPr>
          <a:xfrm>
            <a:off x="5102352" y="4361688"/>
            <a:ext cx="331470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93792" y="4453127"/>
            <a:ext cx="3127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قرب الشغل والأهل والخدمات</a:t>
            </a:r>
          </a:p>
        </p:txBody>
      </p:sp>
      <p:sp>
        <p:nvSpPr>
          <p:cNvPr id="37" name="Rectangle 36"/>
          <p:cNvSpPr/>
          <p:nvPr/>
        </p:nvSpPr>
        <p:spPr>
          <a:xfrm>
            <a:off x="594360" y="4361688"/>
            <a:ext cx="4485131"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453127"/>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اختبار ملاءمة موقعنا ليوم العميل</a:t>
            </a:r>
          </a:p>
        </p:txBody>
      </p:sp>
      <p:sp>
        <p:nvSpPr>
          <p:cNvPr id="39" name="Rectangle 38"/>
          <p:cNvSpPr/>
          <p:nvPr/>
        </p:nvSpPr>
        <p:spPr>
          <a:xfrm>
            <a:off x="8439912" y="4983479"/>
            <a:ext cx="313182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31352" y="5074919"/>
            <a:ext cx="294436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إعادة البيع من مالك</a:t>
            </a:r>
          </a:p>
        </p:txBody>
      </p:sp>
      <p:sp>
        <p:nvSpPr>
          <p:cNvPr id="41" name="Rectangle 40"/>
          <p:cNvSpPr/>
          <p:nvPr/>
        </p:nvSpPr>
        <p:spPr>
          <a:xfrm>
            <a:off x="5102352" y="4983479"/>
            <a:ext cx="331470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93792" y="5074919"/>
            <a:ext cx="3127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سعر أو مساحة أو تفاوض</a:t>
            </a:r>
          </a:p>
        </p:txBody>
      </p:sp>
      <p:sp>
        <p:nvSpPr>
          <p:cNvPr id="43" name="Rectangle 42"/>
          <p:cNvSpPr/>
          <p:nvPr/>
        </p:nvSpPr>
        <p:spPr>
          <a:xfrm>
            <a:off x="594360" y="4983479"/>
            <a:ext cx="448513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5074919"/>
            <a:ext cx="429767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وضوح التعاقد والمواصفات والخدمة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٠٣ / رصد المنافسة</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قبل ما نقول «الأرخص»… نثبت المقارنة</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عينة تشغيلية مقترحة: ١٠–١٥ عرض مناسب ومؤرخ.</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10</a:t>
            </a:r>
          </a:p>
        </p:txBody>
      </p:sp>
      <p:sp>
        <p:nvSpPr>
          <p:cNvPr id="9" name="Rounded Rectangle 8"/>
          <p:cNvSpPr/>
          <p:nvPr/>
        </p:nvSpPr>
        <p:spPr>
          <a:xfrm>
            <a:off x="8028431" y="1965960"/>
            <a:ext cx="3566160" cy="3383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3"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01</a:t>
            </a:r>
          </a:p>
        </p:txBody>
      </p:sp>
      <p:sp>
        <p:nvSpPr>
          <p:cNvPr id="12" name="TextBox 11"/>
          <p:cNvSpPr txBox="1"/>
          <p:nvPr/>
        </p:nvSpPr>
        <p:spPr>
          <a:xfrm>
            <a:off x="8211311"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نجمع</a:t>
            </a:r>
          </a:p>
        </p:txBody>
      </p:sp>
      <p:sp>
        <p:nvSpPr>
          <p:cNvPr id="13" name="TextBox 12"/>
          <p:cNvSpPr txBox="1"/>
          <p:nvPr/>
        </p:nvSpPr>
        <p:spPr>
          <a:xfrm>
            <a:off x="8211311" y="3648456"/>
            <a:ext cx="3154679" cy="162763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موقع ومساحة وتشطيب</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ودور وحالة تنفيذ.</a:t>
            </a:r>
          </a:p>
        </p:txBody>
      </p:sp>
      <p:sp>
        <p:nvSpPr>
          <p:cNvPr id="14" name="Rounded Rectangle 13"/>
          <p:cNvSpPr/>
          <p:nvPr/>
        </p:nvSpPr>
        <p:spPr>
          <a:xfrm>
            <a:off x="4315968" y="1965960"/>
            <a:ext cx="3566160" cy="3383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8119"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02</a:t>
            </a:r>
          </a:p>
        </p:txBody>
      </p:sp>
      <p:sp>
        <p:nvSpPr>
          <p:cNvPr id="17" name="TextBox 16"/>
          <p:cNvSpPr txBox="1"/>
          <p:nvPr/>
        </p:nvSpPr>
        <p:spPr>
          <a:xfrm>
            <a:off x="4498848"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نتحقق</a:t>
            </a:r>
          </a:p>
        </p:txBody>
      </p:sp>
      <p:sp>
        <p:nvSpPr>
          <p:cNvPr id="18" name="TextBox 17"/>
          <p:cNvSpPr txBox="1"/>
          <p:nvPr/>
        </p:nvSpPr>
        <p:spPr>
          <a:xfrm>
            <a:off x="4498848" y="3648456"/>
            <a:ext cx="3154679" cy="162763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إجمالي سعر ومقدم وأقساط</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ومصاريف وتسليم.</a:t>
            </a:r>
          </a:p>
        </p:txBody>
      </p:sp>
      <p:sp>
        <p:nvSpPr>
          <p:cNvPr id="19" name="Rounded Rectangle 18"/>
          <p:cNvSpPr/>
          <p:nvPr/>
        </p:nvSpPr>
        <p:spPr>
          <a:xfrm>
            <a:off x="594360" y="1965960"/>
            <a:ext cx="3566160" cy="33832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96511" y="21305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217627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176B76"/>
                </a:solidFill>
                <a:latin typeface="Noto Sans Arabic"/>
                <a:ea typeface="Noto Sans Arabic"/>
                <a:cs typeface="Noto Sans Arabic"/>
              </a:rPr>
              <a:t>03</a:t>
            </a:r>
          </a:p>
        </p:txBody>
      </p:sp>
      <p:sp>
        <p:nvSpPr>
          <p:cNvPr id="22" name="TextBox 21"/>
          <p:cNvSpPr txBox="1"/>
          <p:nvPr/>
        </p:nvSpPr>
        <p:spPr>
          <a:xfrm>
            <a:off x="777240" y="295351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نقارن</a:t>
            </a:r>
          </a:p>
        </p:txBody>
      </p:sp>
      <p:sp>
        <p:nvSpPr>
          <p:cNvPr id="23" name="TextBox 22"/>
          <p:cNvSpPr txBox="1"/>
          <p:nvPr/>
        </p:nvSpPr>
        <p:spPr>
          <a:xfrm>
            <a:off x="777240" y="3648456"/>
            <a:ext cx="3154679" cy="162763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نستبعد المكرر والناقص</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ونقارن وحدات متشابهة.</a:t>
            </a:r>
          </a:p>
        </p:txBody>
      </p:sp>
      <p:sp>
        <p:nvSpPr>
          <p:cNvPr id="24" name="TextBox 23"/>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أسعار الإعلانات = أسعار عرض. سعر البيع النهائي محتاج دليل منفصل وتحقق إضافي.</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D38"/>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D8B36A"/>
                </a:solidFill>
                <a:latin typeface="Noto Sans Arabic"/>
                <a:ea typeface="Noto Sans Arabic"/>
                <a:cs typeface="Noto Sans Arabic"/>
              </a:rPr>
              <a:t>٠٥ / الهوية والتمركز</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FFFFFF"/>
                </a:solidFill>
                <a:latin typeface="Noto Sans Arabic"/>
                <a:ea typeface="Noto Sans Arabic"/>
                <a:cs typeface="Noto Sans Arabic"/>
              </a:rPr>
              <a:t>التمركز: قيمة واضحة وقرار مطمّن</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CDE5DE"/>
                </a:solidFill>
                <a:latin typeface="Noto Sans Arabic"/>
                <a:ea typeface="Noto Sans Arabic"/>
                <a:cs typeface="Noto Sans Arabic"/>
              </a:rPr>
              <a:t>الرسالة تتطور لما مواصفات المشروع تبقى مكتملة.</a:t>
            </a:r>
          </a:p>
        </p:txBody>
      </p:sp>
      <p:sp>
        <p:nvSpPr>
          <p:cNvPr id="6" name="Rectangle 5"/>
          <p:cNvSpPr/>
          <p:nvPr/>
        </p:nvSpPr>
        <p:spPr>
          <a:xfrm>
            <a:off x="594360" y="6391656"/>
            <a:ext cx="11000232" cy="1097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CDE5DE"/>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D8B36A"/>
                </a:solidFill>
                <a:latin typeface="Noto Sans Arabic"/>
                <a:ea typeface="Noto Sans Arabic"/>
                <a:cs typeface="Noto Sans Arabic"/>
              </a:rPr>
              <a:t>11</a:t>
            </a:r>
          </a:p>
        </p:txBody>
      </p:sp>
      <p:sp>
        <p:nvSpPr>
          <p:cNvPr id="9" name="TextBox 8"/>
          <p:cNvSpPr txBox="1"/>
          <p:nvPr/>
        </p:nvSpPr>
        <p:spPr>
          <a:xfrm>
            <a:off x="960120" y="1993392"/>
            <a:ext cx="10287000" cy="219456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FFFFFF"/>
                </a:solidFill>
                <a:latin typeface="Noto Sans Arabic"/>
                <a:ea typeface="Noto Sans Arabic"/>
                <a:cs typeface="Noto Sans Arabic"/>
              </a:rPr>
              <a:t>«سكن في شرق النيل،</a:t>
            </a:r>
          </a:p>
          <a:p>
            <a:pPr algn="r" rtl="1">
              <a:lnSpc>
                <a:spcPct val="110000"/>
              </a:lnSpc>
              <a:spcBef>
                <a:spcPts val="0"/>
              </a:spcBef>
              <a:spcAft>
                <a:spcPts val="800"/>
              </a:spcAft>
            </a:pPr>
            <a:r>
              <a:rPr sz="3600" b="1" lang="ar-EG">
                <a:solidFill>
                  <a:srgbClr val="FFFFFF"/>
                </a:solidFill>
                <a:latin typeface="Noto Sans Arabic"/>
                <a:ea typeface="Noto Sans Arabic"/>
                <a:cs typeface="Noto Sans Arabic"/>
              </a:rPr>
              <a:t>بقيمة واضحة وتفاصيل</a:t>
            </a:r>
          </a:p>
          <a:p>
            <a:pPr algn="r" rtl="1">
              <a:lnSpc>
                <a:spcPct val="110000"/>
              </a:lnSpc>
              <a:spcBef>
                <a:spcPts val="0"/>
              </a:spcBef>
              <a:spcAft>
                <a:spcPts val="800"/>
              </a:spcAft>
            </a:pPr>
            <a:r>
              <a:rPr sz="3600" b="1" lang="ar-EG">
                <a:solidFill>
                  <a:srgbClr val="FFFFFF"/>
                </a:solidFill>
                <a:latin typeface="Noto Sans Arabic"/>
                <a:ea typeface="Noto Sans Arabic"/>
                <a:cs typeface="Noto Sans Arabic"/>
              </a:rPr>
              <a:t>تقدر تراجعها قبل ما تقرر».</a:t>
            </a:r>
          </a:p>
        </p:txBody>
      </p:sp>
      <p:sp>
        <p:nvSpPr>
          <p:cNvPr id="10" name="Rounded Rectangle 9"/>
          <p:cNvSpPr/>
          <p:nvPr/>
        </p:nvSpPr>
        <p:spPr>
          <a:xfrm>
            <a:off x="8028431" y="4892040"/>
            <a:ext cx="3566160" cy="68580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65592" y="5029200"/>
            <a:ext cx="3291840" cy="365760"/>
          </a:xfrm>
          <a:prstGeom prst="rect">
            <a:avLst/>
          </a:prstGeom>
          <a:noFill/>
        </p:spPr>
        <p:txBody>
          <a:bodyPr wrap="square" lIns="36576" rIns="36576" tIns="22860" bIns="0">
            <a:spAutoFit/>
          </a:bodyPr>
          <a:lstStyle/>
          <a:p>
            <a:pPr algn="ctr" rtl="1">
              <a:lnSpc>
                <a:spcPct val="110000"/>
              </a:lnSpc>
              <a:spcBef>
                <a:spcPts val="0"/>
              </a:spcBef>
              <a:spcAft>
                <a:spcPts val="800"/>
              </a:spcAft>
            </a:pPr>
            <a:r>
              <a:rPr sz="1900" b="1" lang="ar-EG">
                <a:solidFill>
                  <a:srgbClr val="D8B36A"/>
                </a:solidFill>
                <a:latin typeface="Noto Sans Arabic"/>
                <a:ea typeface="Noto Sans Arabic"/>
                <a:cs typeface="Noto Sans Arabic"/>
              </a:rPr>
              <a:t>موقع مفهوم</a:t>
            </a:r>
          </a:p>
        </p:txBody>
      </p:sp>
      <p:sp>
        <p:nvSpPr>
          <p:cNvPr id="12" name="Rounded Rectangle 11"/>
          <p:cNvSpPr/>
          <p:nvPr/>
        </p:nvSpPr>
        <p:spPr>
          <a:xfrm>
            <a:off x="4315968" y="4892040"/>
            <a:ext cx="3566160" cy="68580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5029200"/>
            <a:ext cx="3291840" cy="365760"/>
          </a:xfrm>
          <a:prstGeom prst="rect">
            <a:avLst/>
          </a:prstGeom>
          <a:noFill/>
        </p:spPr>
        <p:txBody>
          <a:bodyPr wrap="square" lIns="36576" rIns="36576" tIns="22860" bIns="0">
            <a:spAutoFit/>
          </a:bodyPr>
          <a:lstStyle/>
          <a:p>
            <a:pPr algn="ctr" rtl="1">
              <a:lnSpc>
                <a:spcPct val="110000"/>
              </a:lnSpc>
              <a:spcBef>
                <a:spcPts val="0"/>
              </a:spcBef>
              <a:spcAft>
                <a:spcPts val="800"/>
              </a:spcAft>
            </a:pPr>
            <a:r>
              <a:rPr sz="1900" b="1" lang="ar-EG">
                <a:solidFill>
                  <a:srgbClr val="D8B36A"/>
                </a:solidFill>
                <a:latin typeface="Noto Sans Arabic"/>
                <a:ea typeface="Noto Sans Arabic"/>
                <a:cs typeface="Noto Sans Arabic"/>
              </a:rPr>
              <a:t>تنفيذ موثّق</a:t>
            </a:r>
          </a:p>
        </p:txBody>
      </p:sp>
      <p:sp>
        <p:nvSpPr>
          <p:cNvPr id="14" name="Rounded Rectangle 13"/>
          <p:cNvSpPr/>
          <p:nvPr/>
        </p:nvSpPr>
        <p:spPr>
          <a:xfrm>
            <a:off x="594360" y="4892040"/>
            <a:ext cx="3566160" cy="68580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029200"/>
            <a:ext cx="3291840" cy="365760"/>
          </a:xfrm>
          <a:prstGeom prst="rect">
            <a:avLst/>
          </a:prstGeom>
          <a:noFill/>
        </p:spPr>
        <p:txBody>
          <a:bodyPr wrap="square" lIns="36576" rIns="36576" tIns="22860" bIns="0">
            <a:spAutoFit/>
          </a:bodyPr>
          <a:lstStyle/>
          <a:p>
            <a:pPr algn="ctr" rtl="1">
              <a:lnSpc>
                <a:spcPct val="110000"/>
              </a:lnSpc>
              <a:spcBef>
                <a:spcPts val="0"/>
              </a:spcBef>
              <a:spcAft>
                <a:spcPts val="800"/>
              </a:spcAft>
            </a:pPr>
            <a:r>
              <a:rPr sz="1900" b="1" lang="ar-EG">
                <a:solidFill>
                  <a:srgbClr val="D8B36A"/>
                </a:solidFill>
                <a:latin typeface="Noto Sans Arabic"/>
                <a:ea typeface="Noto Sans Arabic"/>
                <a:cs typeface="Noto Sans Arabic"/>
              </a:rPr>
              <a:t>عرض مالي واضح</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٠٥ / صوت البراند</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واثق، قريب، واضح ومسؤول</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عامية مصرية محترمة؛ معلومة ودليل بدل الضغط والمبالغة.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12</a:t>
            </a:r>
          </a:p>
        </p:txBody>
      </p:sp>
      <p:sp>
        <p:nvSpPr>
          <p:cNvPr id="9" name="Rounded Rectangle 8"/>
          <p:cNvSpPr/>
          <p:nvPr/>
        </p:nvSpPr>
        <p:spPr>
          <a:xfrm>
            <a:off x="6217920" y="1920240"/>
            <a:ext cx="5376672" cy="36118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13055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نقول</a:t>
            </a:r>
          </a:p>
        </p:txBody>
      </p:sp>
      <p:sp>
        <p:nvSpPr>
          <p:cNvPr id="12" name="TextBox 11"/>
          <p:cNvSpPr txBox="1"/>
          <p:nvPr/>
        </p:nvSpPr>
        <p:spPr>
          <a:xfrm>
            <a:off x="6400800" y="2825496"/>
            <a:ext cx="4965192" cy="263347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«شوف الموقع ومرحلة التنفيذ».</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«اعرف تفاصيل شقتك وجدول سدادها».</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«إيه الأهم ليك في سكنك الجديد؟»</a:t>
            </a:r>
          </a:p>
        </p:txBody>
      </p:sp>
      <p:sp>
        <p:nvSpPr>
          <p:cNvPr id="13" name="Rounded Rectangle 12"/>
          <p:cNvSpPr/>
          <p:nvPr/>
        </p:nvSpPr>
        <p:spPr>
          <a:xfrm>
            <a:off x="594360" y="1920240"/>
            <a:ext cx="5376672" cy="36118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2084832"/>
            <a:ext cx="41148" cy="411480"/>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13055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نتجنب</a:t>
            </a:r>
          </a:p>
        </p:txBody>
      </p:sp>
      <p:sp>
        <p:nvSpPr>
          <p:cNvPr id="16" name="TextBox 15"/>
          <p:cNvSpPr txBox="1"/>
          <p:nvPr/>
        </p:nvSpPr>
        <p:spPr>
          <a:xfrm>
            <a:off x="777240" y="2825496"/>
            <a:ext cx="4965192" cy="263347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«مكسب مضمون» و«عائد مؤكد».</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«أفخم مشروع» من غير مواصفات.</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ندرة وهمية أو موعد استلام مبهم.</a:t>
            </a:r>
          </a:p>
        </p:txBody>
      </p:sp>
      <p:sp>
        <p:nvSpPr>
          <p:cNvPr id="17" name="TextBox 16"/>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الهوية البصرية: صور حقيقية + خريطة واضحة + أرقام مقروءة. أي منظور معماري يتعرّف بأنه تصوّر، مش صورة تنفيذ.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٠٤ / مسار التحويل</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كل مرحلة لها محتوى وخطوة بيع</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مفيش قفزة من مشاهدة إعلان للتعاقد من غير بناء ثقة.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13</a:t>
            </a:r>
          </a:p>
        </p:txBody>
      </p:sp>
      <p:sp>
        <p:nvSpPr>
          <p:cNvPr id="9" name="Rounded Rectangle 8"/>
          <p:cNvSpPr/>
          <p:nvPr/>
        </p:nvSpPr>
        <p:spPr>
          <a:xfrm>
            <a:off x="8028431" y="1920240"/>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25912" y="2066544"/>
            <a:ext cx="54864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62488" y="2075688"/>
            <a:ext cx="47548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١</a:t>
            </a:r>
          </a:p>
        </p:txBody>
      </p:sp>
      <p:sp>
        <p:nvSpPr>
          <p:cNvPr id="12" name="TextBox 11"/>
          <p:cNvSpPr txBox="1"/>
          <p:nvPr/>
        </p:nvSpPr>
        <p:spPr>
          <a:xfrm>
            <a:off x="8165592" y="2468880"/>
            <a:ext cx="320040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163440"/>
                </a:solidFill>
                <a:latin typeface="Noto Sans Arabic"/>
                <a:ea typeface="Noto Sans Arabic"/>
                <a:cs typeface="Noto Sans Arabic"/>
              </a:rPr>
              <a:t>اكتشاف</a:t>
            </a:r>
          </a:p>
        </p:txBody>
      </p:sp>
      <p:sp>
        <p:nvSpPr>
          <p:cNvPr id="13" name="TextBox 12"/>
          <p:cNvSpPr txBox="1"/>
          <p:nvPr/>
        </p:nvSpPr>
        <p:spPr>
          <a:xfrm>
            <a:off x="8165592" y="3044952"/>
            <a:ext cx="3200400" cy="39319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فيديو موقع أو سؤال مهم</a:t>
            </a:r>
          </a:p>
        </p:txBody>
      </p:sp>
      <p:sp>
        <p:nvSpPr>
          <p:cNvPr id="14" name="Rounded Rectangle 13"/>
          <p:cNvSpPr/>
          <p:nvPr/>
        </p:nvSpPr>
        <p:spPr>
          <a:xfrm>
            <a:off x="4311395" y="1920240"/>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08875" y="2066544"/>
            <a:ext cx="54864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5451" y="2075688"/>
            <a:ext cx="47548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٢</a:t>
            </a:r>
          </a:p>
        </p:txBody>
      </p:sp>
      <p:sp>
        <p:nvSpPr>
          <p:cNvPr id="17" name="TextBox 16"/>
          <p:cNvSpPr txBox="1"/>
          <p:nvPr/>
        </p:nvSpPr>
        <p:spPr>
          <a:xfrm>
            <a:off x="4448555" y="2468880"/>
            <a:ext cx="320040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163440"/>
                </a:solidFill>
                <a:latin typeface="Noto Sans Arabic"/>
                <a:ea typeface="Noto Sans Arabic"/>
                <a:cs typeface="Noto Sans Arabic"/>
              </a:rPr>
              <a:t>استفسار</a:t>
            </a:r>
          </a:p>
        </p:txBody>
      </p:sp>
      <p:sp>
        <p:nvSpPr>
          <p:cNvPr id="18" name="TextBox 17"/>
          <p:cNvSpPr txBox="1"/>
          <p:nvPr/>
        </p:nvSpPr>
        <p:spPr>
          <a:xfrm>
            <a:off x="4448555" y="3044952"/>
            <a:ext cx="3200400" cy="39319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عرض واضح وسهل الفهم</a:t>
            </a:r>
          </a:p>
        </p:txBody>
      </p:sp>
      <p:sp>
        <p:nvSpPr>
          <p:cNvPr id="19" name="Rounded Rectangle 18"/>
          <p:cNvSpPr/>
          <p:nvPr/>
        </p:nvSpPr>
        <p:spPr>
          <a:xfrm>
            <a:off x="594359" y="1920240"/>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91839" y="2066544"/>
            <a:ext cx="54864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28415" y="2075688"/>
            <a:ext cx="47548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٣</a:t>
            </a:r>
          </a:p>
        </p:txBody>
      </p:sp>
      <p:sp>
        <p:nvSpPr>
          <p:cNvPr id="22" name="TextBox 21"/>
          <p:cNvSpPr txBox="1"/>
          <p:nvPr/>
        </p:nvSpPr>
        <p:spPr>
          <a:xfrm>
            <a:off x="731519" y="2468880"/>
            <a:ext cx="320040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163440"/>
                </a:solidFill>
                <a:latin typeface="Noto Sans Arabic"/>
                <a:ea typeface="Noto Sans Arabic"/>
                <a:cs typeface="Noto Sans Arabic"/>
              </a:rPr>
              <a:t>تأهيل</a:t>
            </a:r>
          </a:p>
        </p:txBody>
      </p:sp>
      <p:sp>
        <p:nvSpPr>
          <p:cNvPr id="23" name="TextBox 22"/>
          <p:cNvSpPr txBox="1"/>
          <p:nvPr/>
        </p:nvSpPr>
        <p:spPr>
          <a:xfrm>
            <a:off x="731519" y="3044952"/>
            <a:ext cx="3200400" cy="39319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هدف الشراء وقدرة السداد</a:t>
            </a:r>
          </a:p>
        </p:txBody>
      </p:sp>
      <p:sp>
        <p:nvSpPr>
          <p:cNvPr id="24" name="Rounded Rectangle 23"/>
          <p:cNvSpPr/>
          <p:nvPr/>
        </p:nvSpPr>
        <p:spPr>
          <a:xfrm>
            <a:off x="8028431" y="3858768"/>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725912" y="4005072"/>
            <a:ext cx="54864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762488" y="4014216"/>
            <a:ext cx="47548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٤</a:t>
            </a:r>
          </a:p>
        </p:txBody>
      </p:sp>
      <p:sp>
        <p:nvSpPr>
          <p:cNvPr id="27" name="TextBox 26"/>
          <p:cNvSpPr txBox="1"/>
          <p:nvPr/>
        </p:nvSpPr>
        <p:spPr>
          <a:xfrm>
            <a:off x="8165592" y="4407408"/>
            <a:ext cx="320040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163440"/>
                </a:solidFill>
                <a:latin typeface="Noto Sans Arabic"/>
                <a:ea typeface="Noto Sans Arabic"/>
                <a:cs typeface="Noto Sans Arabic"/>
              </a:rPr>
              <a:t>معاينة</a:t>
            </a:r>
          </a:p>
        </p:txBody>
      </p:sp>
      <p:sp>
        <p:nvSpPr>
          <p:cNvPr id="28" name="TextBox 27"/>
          <p:cNvSpPr txBox="1"/>
          <p:nvPr/>
        </p:nvSpPr>
        <p:spPr>
          <a:xfrm>
            <a:off x="8165592" y="4983480"/>
            <a:ext cx="3200400" cy="39319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موقع وتنفيذ ومواصفات</a:t>
            </a:r>
          </a:p>
        </p:txBody>
      </p:sp>
      <p:sp>
        <p:nvSpPr>
          <p:cNvPr id="29" name="Rounded Rectangle 28"/>
          <p:cNvSpPr/>
          <p:nvPr/>
        </p:nvSpPr>
        <p:spPr>
          <a:xfrm>
            <a:off x="4311395" y="3858768"/>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008875" y="4005072"/>
            <a:ext cx="54864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5451" y="4014216"/>
            <a:ext cx="47548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٥</a:t>
            </a:r>
          </a:p>
        </p:txBody>
      </p:sp>
      <p:sp>
        <p:nvSpPr>
          <p:cNvPr id="32" name="TextBox 31"/>
          <p:cNvSpPr txBox="1"/>
          <p:nvPr/>
        </p:nvSpPr>
        <p:spPr>
          <a:xfrm>
            <a:off x="4448555" y="4407408"/>
            <a:ext cx="320040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163440"/>
                </a:solidFill>
                <a:latin typeface="Noto Sans Arabic"/>
                <a:ea typeface="Noto Sans Arabic"/>
                <a:cs typeface="Noto Sans Arabic"/>
              </a:rPr>
              <a:t>متابعة</a:t>
            </a:r>
          </a:p>
        </p:txBody>
      </p:sp>
      <p:sp>
        <p:nvSpPr>
          <p:cNvPr id="33" name="TextBox 32"/>
          <p:cNvSpPr txBox="1"/>
          <p:nvPr/>
        </p:nvSpPr>
        <p:spPr>
          <a:xfrm>
            <a:off x="4448555" y="4983480"/>
            <a:ext cx="3200400" cy="39319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إجابة اعتراضات العميل</a:t>
            </a:r>
          </a:p>
        </p:txBody>
      </p:sp>
      <p:sp>
        <p:nvSpPr>
          <p:cNvPr id="34" name="Rounded Rectangle 33"/>
          <p:cNvSpPr/>
          <p:nvPr/>
        </p:nvSpPr>
        <p:spPr>
          <a:xfrm>
            <a:off x="594359" y="3858768"/>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291839" y="4005072"/>
            <a:ext cx="54864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28415" y="4014216"/>
            <a:ext cx="47548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٦</a:t>
            </a:r>
          </a:p>
        </p:txBody>
      </p:sp>
      <p:sp>
        <p:nvSpPr>
          <p:cNvPr id="37" name="TextBox 36"/>
          <p:cNvSpPr txBox="1"/>
          <p:nvPr/>
        </p:nvSpPr>
        <p:spPr>
          <a:xfrm>
            <a:off x="731519" y="4407408"/>
            <a:ext cx="320040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163440"/>
                </a:solidFill>
                <a:latin typeface="Noto Sans Arabic"/>
                <a:ea typeface="Noto Sans Arabic"/>
                <a:cs typeface="Noto Sans Arabic"/>
              </a:rPr>
              <a:t>حجز</a:t>
            </a:r>
          </a:p>
        </p:txBody>
      </p:sp>
      <p:sp>
        <p:nvSpPr>
          <p:cNvPr id="38" name="TextBox 37"/>
          <p:cNvSpPr txBox="1"/>
          <p:nvPr/>
        </p:nvSpPr>
        <p:spPr>
          <a:xfrm>
            <a:off x="731519" y="4983480"/>
            <a:ext cx="3200400" cy="393192"/>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تفاصيل نهائية وتعاقد</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٠٤ / خطة التنفيذ</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٩٠ يوم: تجهيز، تحسين، ثم دعم الحجوزات</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المدة إطار عمل. أرقام البيع تتحدد حسب المخزون والميزانية ونتائج الاختبار.</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14</a:t>
            </a:r>
          </a:p>
        </p:txBody>
      </p:sp>
      <p:sp>
        <p:nvSpPr>
          <p:cNvPr id="9" name="Rounded Rectangle 8"/>
          <p:cNvSpPr/>
          <p:nvPr/>
        </p:nvSpPr>
        <p:spPr>
          <a:xfrm>
            <a:off x="8028431" y="2194560"/>
            <a:ext cx="3566160" cy="3474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3591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1" y="240487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تجهيز وقياس</a:t>
            </a:r>
          </a:p>
        </p:txBody>
      </p:sp>
      <p:sp>
        <p:nvSpPr>
          <p:cNvPr id="12" name="TextBox 11"/>
          <p:cNvSpPr txBox="1"/>
          <p:nvPr/>
        </p:nvSpPr>
        <p:spPr>
          <a:xfrm>
            <a:off x="8211311" y="3099815"/>
            <a:ext cx="3154679" cy="24963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ملف بيع موحّد</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توثيق الموقع والتنفيذ</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اختبار الرسائل ومصادر العملاء</a:t>
            </a:r>
          </a:p>
        </p:txBody>
      </p:sp>
      <p:sp>
        <p:nvSpPr>
          <p:cNvPr id="13" name="Rounded Rectangle 12"/>
          <p:cNvSpPr/>
          <p:nvPr/>
        </p:nvSpPr>
        <p:spPr>
          <a:xfrm>
            <a:off x="8302752" y="1828800"/>
            <a:ext cx="301752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9327" y="1837943"/>
            <a:ext cx="294436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أسبوع ١–٢</a:t>
            </a:r>
          </a:p>
        </p:txBody>
      </p:sp>
      <p:sp>
        <p:nvSpPr>
          <p:cNvPr id="15" name="Rounded Rectangle 14"/>
          <p:cNvSpPr/>
          <p:nvPr/>
        </p:nvSpPr>
        <p:spPr>
          <a:xfrm>
            <a:off x="4315968" y="2194560"/>
            <a:ext cx="3566160" cy="3474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19" y="23591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98848" y="240487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تحسين التحويل</a:t>
            </a:r>
          </a:p>
        </p:txBody>
      </p:sp>
      <p:sp>
        <p:nvSpPr>
          <p:cNvPr id="18" name="TextBox 17"/>
          <p:cNvSpPr txBox="1"/>
          <p:nvPr/>
        </p:nvSpPr>
        <p:spPr>
          <a:xfrm>
            <a:off x="4498848" y="3099815"/>
            <a:ext cx="3154679" cy="24963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تمويل الرسائل الأفضل</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رفع حضور المعاينات</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محتوى يعالج الاعتراضات</a:t>
            </a:r>
          </a:p>
        </p:txBody>
      </p:sp>
      <p:sp>
        <p:nvSpPr>
          <p:cNvPr id="19" name="Rounded Rectangle 18"/>
          <p:cNvSpPr/>
          <p:nvPr/>
        </p:nvSpPr>
        <p:spPr>
          <a:xfrm>
            <a:off x="4590288" y="1828800"/>
            <a:ext cx="301752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26864" y="1837943"/>
            <a:ext cx="294436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أسبوع ٣–٨</a:t>
            </a:r>
          </a:p>
        </p:txBody>
      </p:sp>
      <p:sp>
        <p:nvSpPr>
          <p:cNvPr id="21" name="Rounded Rectangle 20"/>
          <p:cNvSpPr/>
          <p:nvPr/>
        </p:nvSpPr>
        <p:spPr>
          <a:xfrm>
            <a:off x="594360" y="2194560"/>
            <a:ext cx="3566160" cy="34747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096511" y="235915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240487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دعم الحجوزات</a:t>
            </a:r>
          </a:p>
        </p:txBody>
      </p:sp>
      <p:sp>
        <p:nvSpPr>
          <p:cNvPr id="24" name="TextBox 23"/>
          <p:cNvSpPr txBox="1"/>
          <p:nvPr/>
        </p:nvSpPr>
        <p:spPr>
          <a:xfrm>
            <a:off x="777240" y="3099815"/>
            <a:ext cx="3154679" cy="24963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متابعة العملاء الجادين</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عرض وحدات محددة</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توسّع حسب جودة النتائج</a:t>
            </a:r>
          </a:p>
        </p:txBody>
      </p:sp>
      <p:sp>
        <p:nvSpPr>
          <p:cNvPr id="25" name="Rounded Rectangle 24"/>
          <p:cNvSpPr/>
          <p:nvPr/>
        </p:nvSpPr>
        <p:spPr>
          <a:xfrm>
            <a:off x="868680" y="1828800"/>
            <a:ext cx="301752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1837943"/>
            <a:ext cx="294436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شهر ٣</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٠٤ / قياس الأداء</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لوحة القياس تبدأ من العميل المناسب</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المؤهل: فاهم حالة المشروع، واحتياجه مناسب، وعنده قدرة مبدئية على السداد.</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15</a:t>
            </a:r>
          </a:p>
        </p:txBody>
      </p:sp>
      <p:sp>
        <p:nvSpPr>
          <p:cNvPr id="9" name="Rounded Rectangle 8"/>
          <p:cNvSpPr/>
          <p:nvPr/>
        </p:nvSpPr>
        <p:spPr>
          <a:xfrm>
            <a:off x="8028431" y="1901952"/>
            <a:ext cx="3566160" cy="1618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66544"/>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1" y="2112264"/>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تكلفة استفسار مؤهل</a:t>
            </a:r>
          </a:p>
        </p:txBody>
      </p:sp>
      <p:sp>
        <p:nvSpPr>
          <p:cNvPr id="12" name="TextBox 11"/>
          <p:cNvSpPr txBox="1"/>
          <p:nvPr/>
        </p:nvSpPr>
        <p:spPr>
          <a:xfrm>
            <a:off x="8211311" y="2807208"/>
            <a:ext cx="3154679" cy="640080"/>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الإنفاق ÷ الاستفسارات المؤهلة</a:t>
            </a:r>
          </a:p>
        </p:txBody>
      </p:sp>
      <p:sp>
        <p:nvSpPr>
          <p:cNvPr id="13" name="Rounded Rectangle 12"/>
          <p:cNvSpPr/>
          <p:nvPr/>
        </p:nvSpPr>
        <p:spPr>
          <a:xfrm>
            <a:off x="4311395" y="1901952"/>
            <a:ext cx="3566160" cy="1618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813547" y="2066544"/>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4275" y="2112264"/>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حجز المعاينات</a:t>
            </a:r>
          </a:p>
        </p:txBody>
      </p:sp>
      <p:sp>
        <p:nvSpPr>
          <p:cNvPr id="16" name="TextBox 15"/>
          <p:cNvSpPr txBox="1"/>
          <p:nvPr/>
        </p:nvSpPr>
        <p:spPr>
          <a:xfrm>
            <a:off x="4494275" y="2807208"/>
            <a:ext cx="3154679" cy="640080"/>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الحجوزات ÷ العملاء المؤهلين</a:t>
            </a:r>
          </a:p>
        </p:txBody>
      </p:sp>
      <p:sp>
        <p:nvSpPr>
          <p:cNvPr id="17" name="Rounded Rectangle 16"/>
          <p:cNvSpPr/>
          <p:nvPr/>
        </p:nvSpPr>
        <p:spPr>
          <a:xfrm>
            <a:off x="594359" y="1901952"/>
            <a:ext cx="3566160" cy="1618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96511" y="2066544"/>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39" y="2112264"/>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حضور المعاينات</a:t>
            </a:r>
          </a:p>
        </p:txBody>
      </p:sp>
      <p:sp>
        <p:nvSpPr>
          <p:cNvPr id="20" name="TextBox 19"/>
          <p:cNvSpPr txBox="1"/>
          <p:nvPr/>
        </p:nvSpPr>
        <p:spPr>
          <a:xfrm>
            <a:off x="777239" y="2807208"/>
            <a:ext cx="3154679" cy="640080"/>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الحضور ÷ المواعيد المحجوزة</a:t>
            </a:r>
          </a:p>
        </p:txBody>
      </p:sp>
      <p:sp>
        <p:nvSpPr>
          <p:cNvPr id="21" name="Rounded Rectangle 20"/>
          <p:cNvSpPr/>
          <p:nvPr/>
        </p:nvSpPr>
        <p:spPr>
          <a:xfrm>
            <a:off x="8028431" y="3730752"/>
            <a:ext cx="3566160" cy="1618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1530584" y="3895344"/>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1" y="3941064"/>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تكلفة معاينة فعلية</a:t>
            </a:r>
          </a:p>
        </p:txBody>
      </p:sp>
      <p:sp>
        <p:nvSpPr>
          <p:cNvPr id="24" name="TextBox 23"/>
          <p:cNvSpPr txBox="1"/>
          <p:nvPr/>
        </p:nvSpPr>
        <p:spPr>
          <a:xfrm>
            <a:off x="8211311" y="4636008"/>
            <a:ext cx="3154679" cy="640079"/>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الإنفاق ÷ المعاينات المنفذة</a:t>
            </a:r>
          </a:p>
        </p:txBody>
      </p:sp>
      <p:sp>
        <p:nvSpPr>
          <p:cNvPr id="25" name="Rounded Rectangle 24"/>
          <p:cNvSpPr/>
          <p:nvPr/>
        </p:nvSpPr>
        <p:spPr>
          <a:xfrm>
            <a:off x="4311395" y="3730752"/>
            <a:ext cx="3566160" cy="1618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813547" y="3895344"/>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94275" y="3941064"/>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التحويل للحجز</a:t>
            </a:r>
          </a:p>
        </p:txBody>
      </p:sp>
      <p:sp>
        <p:nvSpPr>
          <p:cNvPr id="28" name="TextBox 27"/>
          <p:cNvSpPr txBox="1"/>
          <p:nvPr/>
        </p:nvSpPr>
        <p:spPr>
          <a:xfrm>
            <a:off x="4494275" y="4636008"/>
            <a:ext cx="3154679" cy="640079"/>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الحجوزات ÷ المعاينات المنفذة</a:t>
            </a:r>
          </a:p>
        </p:txBody>
      </p:sp>
      <p:sp>
        <p:nvSpPr>
          <p:cNvPr id="29" name="Rounded Rectangle 28"/>
          <p:cNvSpPr/>
          <p:nvPr/>
        </p:nvSpPr>
        <p:spPr>
          <a:xfrm>
            <a:off x="594359" y="3730752"/>
            <a:ext cx="3566160" cy="1618488"/>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096511" y="3895344"/>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39" y="3941064"/>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تكلفة الحجز</a:t>
            </a:r>
          </a:p>
        </p:txBody>
      </p:sp>
      <p:sp>
        <p:nvSpPr>
          <p:cNvPr id="32" name="TextBox 31"/>
          <p:cNvSpPr txBox="1"/>
          <p:nvPr/>
        </p:nvSpPr>
        <p:spPr>
          <a:xfrm>
            <a:off x="777239" y="4636008"/>
            <a:ext cx="3154679" cy="640079"/>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الإنفاق ÷ الحجوزات الناتجة</a:t>
            </a:r>
          </a:p>
        </p:txBody>
      </p:sp>
      <p:sp>
        <p:nvSpPr>
          <p:cNvPr id="33" name="TextBox 32"/>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نراجع أسبوعيًا. نسب التحويل تتحسب على نفس مجموعة العملاء وفترة متابعة مناسبة؛ مفيش وعد بأرقام قبل خط الأساس.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٠٧ / استراتيجية المحتوى</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ست محاور تغطي رحلة قرار الشراء</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نسب توزيع المحتوى مبدئية، وتتعدل حسب جودة الاستفسارات والمعاينات.</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16</a:t>
            </a:r>
          </a:p>
        </p:txBody>
      </p:sp>
      <p:sp>
        <p:nvSpPr>
          <p:cNvPr id="9" name="Rounded Rectangle 8"/>
          <p:cNvSpPr/>
          <p:nvPr/>
        </p:nvSpPr>
        <p:spPr>
          <a:xfrm>
            <a:off x="8028431" y="1901952"/>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1" y="2011680"/>
            <a:ext cx="3182112" cy="548640"/>
          </a:xfrm>
          <a:prstGeom prst="rect">
            <a:avLst/>
          </a:prstGeom>
          <a:noFill/>
        </p:spPr>
        <p:txBody>
          <a:bodyPr wrap="square" lIns="36576" rIns="36576" tIns="22860" bIns="0">
            <a:spAutoFit/>
          </a:bodyPr>
          <a:lstStyle/>
          <a:p>
            <a:pPr algn="r" rtl="1">
              <a:lnSpc>
                <a:spcPct val="110000"/>
              </a:lnSpc>
              <a:spcBef>
                <a:spcPts val="0"/>
              </a:spcBef>
              <a:spcAft>
                <a:spcPts val="800"/>
              </a:spcAft>
            </a:pPr>
            <a:r>
              <a:rPr sz="2900" b="1" lang="ar-EG">
                <a:solidFill>
                  <a:srgbClr val="176B76"/>
                </a:solidFill>
                <a:latin typeface="Noto Sans Arabic"/>
                <a:ea typeface="Noto Sans Arabic"/>
                <a:cs typeface="Noto Sans Arabic"/>
              </a:rPr>
              <a:t>٢٠٪</a:t>
            </a:r>
          </a:p>
        </p:txBody>
      </p:sp>
      <p:sp>
        <p:nvSpPr>
          <p:cNvPr id="11" name="TextBox 10"/>
          <p:cNvSpPr txBox="1"/>
          <p:nvPr/>
        </p:nvSpPr>
        <p:spPr>
          <a:xfrm>
            <a:off x="8211311" y="2679192"/>
            <a:ext cx="3182112" cy="402336"/>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1" lang="ar-EG">
                <a:solidFill>
                  <a:srgbClr val="163440"/>
                </a:solidFill>
                <a:latin typeface="Noto Sans Arabic"/>
                <a:ea typeface="Noto Sans Arabic"/>
                <a:cs typeface="Noto Sans Arabic"/>
              </a:rPr>
              <a:t>الموقع والحياة اليومية</a:t>
            </a:r>
          </a:p>
        </p:txBody>
      </p:sp>
      <p:sp>
        <p:nvSpPr>
          <p:cNvPr id="12" name="TextBox 11"/>
          <p:cNvSpPr txBox="1"/>
          <p:nvPr/>
        </p:nvSpPr>
        <p:spPr>
          <a:xfrm>
            <a:off x="8211311" y="3200400"/>
            <a:ext cx="3182112" cy="320040"/>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0" lang="ar-EG">
                <a:solidFill>
                  <a:srgbClr val="647A81"/>
                </a:solidFill>
                <a:latin typeface="Noto Sans Arabic"/>
                <a:ea typeface="Noto Sans Arabic"/>
                <a:cs typeface="Noto Sans Arabic"/>
              </a:rPr>
              <a:t>المكان من منظور استخدامه</a:t>
            </a:r>
          </a:p>
        </p:txBody>
      </p:sp>
      <p:sp>
        <p:nvSpPr>
          <p:cNvPr id="13" name="Rounded Rectangle 12"/>
          <p:cNvSpPr/>
          <p:nvPr/>
        </p:nvSpPr>
        <p:spPr>
          <a:xfrm>
            <a:off x="4311395" y="1901952"/>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4275" y="2011680"/>
            <a:ext cx="3182112" cy="548640"/>
          </a:xfrm>
          <a:prstGeom prst="rect">
            <a:avLst/>
          </a:prstGeom>
          <a:noFill/>
        </p:spPr>
        <p:txBody>
          <a:bodyPr wrap="square" lIns="36576" rIns="36576" tIns="22860" bIns="0">
            <a:spAutoFit/>
          </a:bodyPr>
          <a:lstStyle/>
          <a:p>
            <a:pPr algn="r" rtl="1">
              <a:lnSpc>
                <a:spcPct val="110000"/>
              </a:lnSpc>
              <a:spcBef>
                <a:spcPts val="0"/>
              </a:spcBef>
              <a:spcAft>
                <a:spcPts val="800"/>
              </a:spcAft>
            </a:pPr>
            <a:r>
              <a:rPr sz="2900" b="1" lang="ar-EG">
                <a:solidFill>
                  <a:srgbClr val="176B76"/>
                </a:solidFill>
                <a:latin typeface="Noto Sans Arabic"/>
                <a:ea typeface="Noto Sans Arabic"/>
                <a:cs typeface="Noto Sans Arabic"/>
              </a:rPr>
              <a:t>٢٠٪</a:t>
            </a:r>
          </a:p>
        </p:txBody>
      </p:sp>
      <p:sp>
        <p:nvSpPr>
          <p:cNvPr id="15" name="TextBox 14"/>
          <p:cNvSpPr txBox="1"/>
          <p:nvPr/>
        </p:nvSpPr>
        <p:spPr>
          <a:xfrm>
            <a:off x="4494275" y="2679192"/>
            <a:ext cx="3182112" cy="402336"/>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1" lang="ar-EG">
                <a:solidFill>
                  <a:srgbClr val="163440"/>
                </a:solidFill>
                <a:latin typeface="Noto Sans Arabic"/>
                <a:ea typeface="Noto Sans Arabic"/>
                <a:cs typeface="Noto Sans Arabic"/>
              </a:rPr>
              <a:t>الشقة وتجربة السكن</a:t>
            </a:r>
          </a:p>
        </p:txBody>
      </p:sp>
      <p:sp>
        <p:nvSpPr>
          <p:cNvPr id="16" name="TextBox 15"/>
          <p:cNvSpPr txBox="1"/>
          <p:nvPr/>
        </p:nvSpPr>
        <p:spPr>
          <a:xfrm>
            <a:off x="4494275" y="3200400"/>
            <a:ext cx="3182112" cy="320040"/>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0" lang="ar-EG">
                <a:solidFill>
                  <a:srgbClr val="647A81"/>
                </a:solidFill>
                <a:latin typeface="Noto Sans Arabic"/>
                <a:ea typeface="Noto Sans Arabic"/>
                <a:cs typeface="Noto Sans Arabic"/>
              </a:rPr>
              <a:t>تفاصيل المنتج وقيمته</a:t>
            </a:r>
          </a:p>
        </p:txBody>
      </p:sp>
      <p:sp>
        <p:nvSpPr>
          <p:cNvPr id="17" name="Rounded Rectangle 16"/>
          <p:cNvSpPr/>
          <p:nvPr/>
        </p:nvSpPr>
        <p:spPr>
          <a:xfrm>
            <a:off x="594359" y="1901952"/>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39" y="2011680"/>
            <a:ext cx="3182112" cy="548640"/>
          </a:xfrm>
          <a:prstGeom prst="rect">
            <a:avLst/>
          </a:prstGeom>
          <a:noFill/>
        </p:spPr>
        <p:txBody>
          <a:bodyPr wrap="square" lIns="36576" rIns="36576" tIns="22860" bIns="0">
            <a:spAutoFit/>
          </a:bodyPr>
          <a:lstStyle/>
          <a:p>
            <a:pPr algn="r" rtl="1">
              <a:lnSpc>
                <a:spcPct val="110000"/>
              </a:lnSpc>
              <a:spcBef>
                <a:spcPts val="0"/>
              </a:spcBef>
              <a:spcAft>
                <a:spcPts val="800"/>
              </a:spcAft>
            </a:pPr>
            <a:r>
              <a:rPr sz="2900" b="1" lang="ar-EG">
                <a:solidFill>
                  <a:srgbClr val="176B76"/>
                </a:solidFill>
                <a:latin typeface="Noto Sans Arabic"/>
                <a:ea typeface="Noto Sans Arabic"/>
                <a:cs typeface="Noto Sans Arabic"/>
              </a:rPr>
              <a:t>٢٥٪</a:t>
            </a:r>
          </a:p>
        </p:txBody>
      </p:sp>
      <p:sp>
        <p:nvSpPr>
          <p:cNvPr id="19" name="TextBox 18"/>
          <p:cNvSpPr txBox="1"/>
          <p:nvPr/>
        </p:nvSpPr>
        <p:spPr>
          <a:xfrm>
            <a:off x="777239" y="2679192"/>
            <a:ext cx="3182112" cy="402336"/>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1" lang="ar-EG">
                <a:solidFill>
                  <a:srgbClr val="163440"/>
                </a:solidFill>
                <a:latin typeface="Noto Sans Arabic"/>
                <a:ea typeface="Noto Sans Arabic"/>
                <a:cs typeface="Noto Sans Arabic"/>
              </a:rPr>
              <a:t>الثقة وتقدّم التنفيذ</a:t>
            </a:r>
          </a:p>
        </p:txBody>
      </p:sp>
      <p:sp>
        <p:nvSpPr>
          <p:cNvPr id="20" name="TextBox 19"/>
          <p:cNvSpPr txBox="1"/>
          <p:nvPr/>
        </p:nvSpPr>
        <p:spPr>
          <a:xfrm>
            <a:off x="777239" y="3200400"/>
            <a:ext cx="3182112" cy="320040"/>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0" lang="ar-EG">
                <a:solidFill>
                  <a:srgbClr val="647A81"/>
                </a:solidFill>
                <a:latin typeface="Noto Sans Arabic"/>
                <a:ea typeface="Noto Sans Arabic"/>
                <a:cs typeface="Noto Sans Arabic"/>
              </a:rPr>
              <a:t>أدلة تطمّن العميل</a:t>
            </a:r>
          </a:p>
        </p:txBody>
      </p:sp>
      <p:sp>
        <p:nvSpPr>
          <p:cNvPr id="21" name="Rounded Rectangle 20"/>
          <p:cNvSpPr/>
          <p:nvPr/>
        </p:nvSpPr>
        <p:spPr>
          <a:xfrm>
            <a:off x="8028431" y="3822191"/>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1" y="3931920"/>
            <a:ext cx="3182112" cy="548640"/>
          </a:xfrm>
          <a:prstGeom prst="rect">
            <a:avLst/>
          </a:prstGeom>
          <a:noFill/>
        </p:spPr>
        <p:txBody>
          <a:bodyPr wrap="square" lIns="36576" rIns="36576" tIns="22860" bIns="0">
            <a:spAutoFit/>
          </a:bodyPr>
          <a:lstStyle/>
          <a:p>
            <a:pPr algn="r" rtl="1">
              <a:lnSpc>
                <a:spcPct val="110000"/>
              </a:lnSpc>
              <a:spcBef>
                <a:spcPts val="0"/>
              </a:spcBef>
              <a:spcAft>
                <a:spcPts val="800"/>
              </a:spcAft>
            </a:pPr>
            <a:r>
              <a:rPr sz="2900" b="1" lang="ar-EG">
                <a:solidFill>
                  <a:srgbClr val="176B76"/>
                </a:solidFill>
                <a:latin typeface="Noto Sans Arabic"/>
                <a:ea typeface="Noto Sans Arabic"/>
                <a:cs typeface="Noto Sans Arabic"/>
              </a:rPr>
              <a:t>١٥٪</a:t>
            </a:r>
          </a:p>
        </p:txBody>
      </p:sp>
      <p:sp>
        <p:nvSpPr>
          <p:cNvPr id="23" name="TextBox 22"/>
          <p:cNvSpPr txBox="1"/>
          <p:nvPr/>
        </p:nvSpPr>
        <p:spPr>
          <a:xfrm>
            <a:off x="8211311" y="4599431"/>
            <a:ext cx="3182112" cy="402336"/>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1" lang="ar-EG">
                <a:solidFill>
                  <a:srgbClr val="163440"/>
                </a:solidFill>
                <a:latin typeface="Noto Sans Arabic"/>
                <a:ea typeface="Noto Sans Arabic"/>
                <a:cs typeface="Noto Sans Arabic"/>
              </a:rPr>
              <a:t>السعر والسداد</a:t>
            </a:r>
          </a:p>
        </p:txBody>
      </p:sp>
      <p:sp>
        <p:nvSpPr>
          <p:cNvPr id="24" name="TextBox 23"/>
          <p:cNvSpPr txBox="1"/>
          <p:nvPr/>
        </p:nvSpPr>
        <p:spPr>
          <a:xfrm>
            <a:off x="8211311" y="5120640"/>
            <a:ext cx="3182112" cy="320040"/>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0" lang="ar-EG">
                <a:solidFill>
                  <a:srgbClr val="647A81"/>
                </a:solidFill>
                <a:latin typeface="Noto Sans Arabic"/>
                <a:ea typeface="Noto Sans Arabic"/>
                <a:cs typeface="Noto Sans Arabic"/>
              </a:rPr>
              <a:t>وضوح الالتزام المالي</a:t>
            </a:r>
          </a:p>
        </p:txBody>
      </p:sp>
      <p:sp>
        <p:nvSpPr>
          <p:cNvPr id="25" name="Rounded Rectangle 24"/>
          <p:cNvSpPr/>
          <p:nvPr/>
        </p:nvSpPr>
        <p:spPr>
          <a:xfrm>
            <a:off x="4311395" y="3822191"/>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94275" y="3931920"/>
            <a:ext cx="3182112" cy="548640"/>
          </a:xfrm>
          <a:prstGeom prst="rect">
            <a:avLst/>
          </a:prstGeom>
          <a:noFill/>
        </p:spPr>
        <p:txBody>
          <a:bodyPr wrap="square" lIns="36576" rIns="36576" tIns="22860" bIns="0">
            <a:spAutoFit/>
          </a:bodyPr>
          <a:lstStyle/>
          <a:p>
            <a:pPr algn="r" rtl="1">
              <a:lnSpc>
                <a:spcPct val="110000"/>
              </a:lnSpc>
              <a:spcBef>
                <a:spcPts val="0"/>
              </a:spcBef>
              <a:spcAft>
                <a:spcPts val="800"/>
              </a:spcAft>
            </a:pPr>
            <a:r>
              <a:rPr sz="2900" b="1" lang="ar-EG">
                <a:solidFill>
                  <a:srgbClr val="176B76"/>
                </a:solidFill>
                <a:latin typeface="Noto Sans Arabic"/>
                <a:ea typeface="Noto Sans Arabic"/>
                <a:cs typeface="Noto Sans Arabic"/>
              </a:rPr>
              <a:t>١٠٪</a:t>
            </a:r>
          </a:p>
        </p:txBody>
      </p:sp>
      <p:sp>
        <p:nvSpPr>
          <p:cNvPr id="27" name="TextBox 26"/>
          <p:cNvSpPr txBox="1"/>
          <p:nvPr/>
        </p:nvSpPr>
        <p:spPr>
          <a:xfrm>
            <a:off x="4494275" y="4599431"/>
            <a:ext cx="3182112" cy="402336"/>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1" lang="ar-EG">
                <a:solidFill>
                  <a:srgbClr val="163440"/>
                </a:solidFill>
                <a:latin typeface="Noto Sans Arabic"/>
                <a:ea typeface="Noto Sans Arabic"/>
                <a:cs typeface="Noto Sans Arabic"/>
              </a:rPr>
              <a:t>قرار الشراء والاستثمار</a:t>
            </a:r>
          </a:p>
        </p:txBody>
      </p:sp>
      <p:sp>
        <p:nvSpPr>
          <p:cNvPr id="28" name="TextBox 27"/>
          <p:cNvSpPr txBox="1"/>
          <p:nvPr/>
        </p:nvSpPr>
        <p:spPr>
          <a:xfrm>
            <a:off x="4494275" y="5120640"/>
            <a:ext cx="3182112" cy="320040"/>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0" lang="ar-EG">
                <a:solidFill>
                  <a:srgbClr val="647A81"/>
                </a:solidFill>
                <a:latin typeface="Noto Sans Arabic"/>
                <a:ea typeface="Noto Sans Arabic"/>
                <a:cs typeface="Noto Sans Arabic"/>
              </a:rPr>
              <a:t>مقارنة وفهم قبل القرار</a:t>
            </a:r>
          </a:p>
        </p:txBody>
      </p:sp>
      <p:sp>
        <p:nvSpPr>
          <p:cNvPr id="29" name="Rounded Rectangle 28"/>
          <p:cNvSpPr/>
          <p:nvPr/>
        </p:nvSpPr>
        <p:spPr>
          <a:xfrm>
            <a:off x="594359" y="3822191"/>
            <a:ext cx="3566160"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39" y="3931920"/>
            <a:ext cx="3182112" cy="548640"/>
          </a:xfrm>
          <a:prstGeom prst="rect">
            <a:avLst/>
          </a:prstGeom>
          <a:noFill/>
        </p:spPr>
        <p:txBody>
          <a:bodyPr wrap="square" lIns="36576" rIns="36576" tIns="22860" bIns="0">
            <a:spAutoFit/>
          </a:bodyPr>
          <a:lstStyle/>
          <a:p>
            <a:pPr algn="r" rtl="1">
              <a:lnSpc>
                <a:spcPct val="110000"/>
              </a:lnSpc>
              <a:spcBef>
                <a:spcPts val="0"/>
              </a:spcBef>
              <a:spcAft>
                <a:spcPts val="800"/>
              </a:spcAft>
            </a:pPr>
            <a:r>
              <a:rPr sz="2900" b="1" lang="ar-EG">
                <a:solidFill>
                  <a:srgbClr val="176B76"/>
                </a:solidFill>
                <a:latin typeface="Noto Sans Arabic"/>
                <a:ea typeface="Noto Sans Arabic"/>
                <a:cs typeface="Noto Sans Arabic"/>
              </a:rPr>
              <a:t>١٠٪</a:t>
            </a:r>
          </a:p>
        </p:txBody>
      </p:sp>
      <p:sp>
        <p:nvSpPr>
          <p:cNvPr id="31" name="TextBox 30"/>
          <p:cNvSpPr txBox="1"/>
          <p:nvPr/>
        </p:nvSpPr>
        <p:spPr>
          <a:xfrm>
            <a:off x="777239" y="4599431"/>
            <a:ext cx="3182112" cy="402336"/>
          </a:xfrm>
          <a:prstGeom prst="rect">
            <a:avLst/>
          </a:prstGeom>
          <a:noFill/>
        </p:spPr>
        <p:txBody>
          <a:bodyPr wrap="square" lIns="36576" rIns="36576" tIns="22860" bIns="0">
            <a:spAutoFit/>
          </a:bodyPr>
          <a:lstStyle/>
          <a:p>
            <a:pPr algn="r" rtl="1">
              <a:lnSpc>
                <a:spcPct val="110000"/>
              </a:lnSpc>
              <a:spcBef>
                <a:spcPts val="0"/>
              </a:spcBef>
              <a:spcAft>
                <a:spcPts val="800"/>
              </a:spcAft>
            </a:pPr>
            <a:r>
              <a:rPr sz="1700" b="1" lang="ar-EG">
                <a:solidFill>
                  <a:srgbClr val="163440"/>
                </a:solidFill>
                <a:latin typeface="Noto Sans Arabic"/>
                <a:ea typeface="Noto Sans Arabic"/>
                <a:cs typeface="Noto Sans Arabic"/>
              </a:rPr>
              <a:t>المعاينات والتجربة</a:t>
            </a:r>
          </a:p>
        </p:txBody>
      </p:sp>
      <p:sp>
        <p:nvSpPr>
          <p:cNvPr id="32" name="TextBox 31"/>
          <p:cNvSpPr txBox="1"/>
          <p:nvPr/>
        </p:nvSpPr>
        <p:spPr>
          <a:xfrm>
            <a:off x="777239" y="5120640"/>
            <a:ext cx="3182112" cy="320040"/>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0" lang="ar-EG">
                <a:solidFill>
                  <a:srgbClr val="647A81"/>
                </a:solidFill>
                <a:latin typeface="Noto Sans Arabic"/>
                <a:ea typeface="Noto Sans Arabic"/>
                <a:cs typeface="Noto Sans Arabic"/>
              </a:rPr>
              <a:t>خطوة واضحة نحو الزيارة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٠٧ / محاور المحتوى — ١</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نخلي العميل يشوف ويفهم ويطمن</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محتوى المنتج والمكان والتنفيذ هو أساس الإقناع.</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17</a:t>
            </a:r>
          </a:p>
        </p:txBody>
      </p:sp>
      <p:sp>
        <p:nvSpPr>
          <p:cNvPr id="9" name="Rounded Rectangle 8"/>
          <p:cNvSpPr/>
          <p:nvPr/>
        </p:nvSpPr>
        <p:spPr>
          <a:xfrm>
            <a:off x="8028431" y="192024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1"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الموقع والحياة اليومية</a:t>
            </a:r>
          </a:p>
        </p:txBody>
      </p:sp>
      <p:sp>
        <p:nvSpPr>
          <p:cNvPr id="12" name="TextBox 11"/>
          <p:cNvSpPr txBox="1"/>
          <p:nvPr/>
        </p:nvSpPr>
        <p:spPr>
          <a:xfrm>
            <a:off x="8211311" y="2825496"/>
            <a:ext cx="3154679" cy="22677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جولة من طريق الأربع حارات.</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محيط فعلي ومسافات متحققة.</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خريطة المعالم والخدمات.</a:t>
            </a:r>
          </a:p>
        </p:txBody>
      </p:sp>
      <p:sp>
        <p:nvSpPr>
          <p:cNvPr id="13" name="TextBox 12"/>
          <p:cNvSpPr txBox="1"/>
          <p:nvPr/>
        </p:nvSpPr>
        <p:spPr>
          <a:xfrm>
            <a:off x="8119871" y="5394960"/>
            <a:ext cx="338328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176B76"/>
                </a:solidFill>
                <a:latin typeface="Noto Sans Arabic"/>
                <a:ea typeface="Noto Sans Arabic"/>
                <a:cs typeface="Noto Sans Arabic"/>
              </a:rPr>
              <a:t>اطلب اللوكيشن واحجز زيارة.</a:t>
            </a:r>
          </a:p>
        </p:txBody>
      </p:sp>
      <p:sp>
        <p:nvSpPr>
          <p:cNvPr id="14" name="Rounded Rectangle 13"/>
          <p:cNvSpPr/>
          <p:nvPr/>
        </p:nvSpPr>
        <p:spPr>
          <a:xfrm>
            <a:off x="4311395" y="192024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3547"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4275"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الشقة وتجربة السكن</a:t>
            </a:r>
          </a:p>
        </p:txBody>
      </p:sp>
      <p:sp>
        <p:nvSpPr>
          <p:cNvPr id="17" name="TextBox 16"/>
          <p:cNvSpPr txBox="1"/>
          <p:nvPr/>
        </p:nvSpPr>
        <p:spPr>
          <a:xfrm>
            <a:off x="4494275" y="2825496"/>
            <a:ext cx="3154679" cy="22677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مخطط ومساحات وأبعاد.</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فروق الأدوار والوحدات.</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واجهة وإضاءة وعدد جيران.</a:t>
            </a:r>
          </a:p>
        </p:txBody>
      </p:sp>
      <p:sp>
        <p:nvSpPr>
          <p:cNvPr id="18" name="TextBox 17"/>
          <p:cNvSpPr txBox="1"/>
          <p:nvPr/>
        </p:nvSpPr>
        <p:spPr>
          <a:xfrm>
            <a:off x="4402835" y="5394960"/>
            <a:ext cx="338328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176B76"/>
                </a:solidFill>
                <a:latin typeface="Noto Sans Arabic"/>
                <a:ea typeface="Noto Sans Arabic"/>
                <a:cs typeface="Noto Sans Arabic"/>
              </a:rPr>
              <a:t>اطلب مخطط الوحدة المناسبة.</a:t>
            </a:r>
          </a:p>
        </p:txBody>
      </p:sp>
      <p:sp>
        <p:nvSpPr>
          <p:cNvPr id="19" name="Rounded Rectangle 18"/>
          <p:cNvSpPr/>
          <p:nvPr/>
        </p:nvSpPr>
        <p:spPr>
          <a:xfrm>
            <a:off x="594359" y="192024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96511"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الثقة وتقدّم التنفيذ</a:t>
            </a:r>
          </a:p>
        </p:txBody>
      </p:sp>
      <p:sp>
        <p:nvSpPr>
          <p:cNvPr id="22" name="TextBox 21"/>
          <p:cNvSpPr txBox="1"/>
          <p:nvPr/>
        </p:nvSpPr>
        <p:spPr>
          <a:xfrm>
            <a:off x="777239" y="2825496"/>
            <a:ext cx="3154679" cy="22677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تحديث مؤرخ من الموقع.</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شرح المهندس وسابقة الأعمال.</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تسليم ومستندات وتعاقد.</a:t>
            </a:r>
          </a:p>
        </p:txBody>
      </p:sp>
      <p:sp>
        <p:nvSpPr>
          <p:cNvPr id="23" name="TextBox 22"/>
          <p:cNvSpPr txBox="1"/>
          <p:nvPr/>
        </p:nvSpPr>
        <p:spPr>
          <a:xfrm>
            <a:off x="685799" y="5394960"/>
            <a:ext cx="338328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176B76"/>
                </a:solidFill>
                <a:latin typeface="Noto Sans Arabic"/>
                <a:ea typeface="Noto Sans Arabic"/>
                <a:cs typeface="Noto Sans Arabic"/>
              </a:rPr>
              <a:t>شوف التنفيذ على الطبيعة.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٠٧ / محاور المحتوى — ٢</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نوضح العرض ونساعد القرار ونطلب الزيارة</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كل محتوى ينتهي بخطوة مناسبة لمرحلة العميل.</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18</a:t>
            </a:r>
          </a:p>
        </p:txBody>
      </p:sp>
      <p:sp>
        <p:nvSpPr>
          <p:cNvPr id="9" name="Rounded Rectangle 8"/>
          <p:cNvSpPr/>
          <p:nvPr/>
        </p:nvSpPr>
        <p:spPr>
          <a:xfrm>
            <a:off x="8028431" y="192024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1"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السعر والسداد</a:t>
            </a:r>
          </a:p>
        </p:txBody>
      </p:sp>
      <p:sp>
        <p:nvSpPr>
          <p:cNvPr id="12" name="TextBox 11"/>
          <p:cNvSpPr txBox="1"/>
          <p:nvPr/>
        </p:nvSpPr>
        <p:spPr>
          <a:xfrm>
            <a:off x="8211311" y="2825496"/>
            <a:ext cx="3154679" cy="22677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المقدم بالجنيه مش نسبة بس.</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سعر وحدة محددة بمواصفاتها.</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جدول كامل ومصاريف واضحة.</a:t>
            </a:r>
          </a:p>
        </p:txBody>
      </p:sp>
      <p:sp>
        <p:nvSpPr>
          <p:cNvPr id="13" name="TextBox 12"/>
          <p:cNvSpPr txBox="1"/>
          <p:nvPr/>
        </p:nvSpPr>
        <p:spPr>
          <a:xfrm>
            <a:off x="8119871" y="5394960"/>
            <a:ext cx="338328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176B76"/>
                </a:solidFill>
                <a:latin typeface="Noto Sans Arabic"/>
                <a:ea typeface="Noto Sans Arabic"/>
                <a:cs typeface="Noto Sans Arabic"/>
              </a:rPr>
              <a:t>اطلب تفاصيل السداد كاملة.</a:t>
            </a:r>
          </a:p>
        </p:txBody>
      </p:sp>
      <p:sp>
        <p:nvSpPr>
          <p:cNvPr id="14" name="Rounded Rectangle 13"/>
          <p:cNvSpPr/>
          <p:nvPr/>
        </p:nvSpPr>
        <p:spPr>
          <a:xfrm>
            <a:off x="4311395" y="192024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3547"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94275"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قرار الشراء والاستثمار</a:t>
            </a:r>
          </a:p>
        </p:txBody>
      </p:sp>
      <p:sp>
        <p:nvSpPr>
          <p:cNvPr id="17" name="TextBox 16"/>
          <p:cNvSpPr txBox="1"/>
          <p:nvPr/>
        </p:nvSpPr>
        <p:spPr>
          <a:xfrm>
            <a:off x="4494275" y="2825496"/>
            <a:ext cx="3154679" cy="22677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تقارن وحدتين إزاي؟</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إيه اللي تراجعه قبل الشراء؟</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سكن ولا إعادة بيع ولا تأجير؟</a:t>
            </a:r>
          </a:p>
        </p:txBody>
      </p:sp>
      <p:sp>
        <p:nvSpPr>
          <p:cNvPr id="18" name="TextBox 17"/>
          <p:cNvSpPr txBox="1"/>
          <p:nvPr/>
        </p:nvSpPr>
        <p:spPr>
          <a:xfrm>
            <a:off x="4402835" y="5394960"/>
            <a:ext cx="338328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176B76"/>
                </a:solidFill>
                <a:latin typeface="Noto Sans Arabic"/>
                <a:ea typeface="Noto Sans Arabic"/>
                <a:cs typeface="Noto Sans Arabic"/>
              </a:rPr>
              <a:t>قولنا هدفك من الشراء.</a:t>
            </a:r>
          </a:p>
        </p:txBody>
      </p:sp>
      <p:sp>
        <p:nvSpPr>
          <p:cNvPr id="19" name="Rounded Rectangle 18"/>
          <p:cNvSpPr/>
          <p:nvPr/>
        </p:nvSpPr>
        <p:spPr>
          <a:xfrm>
            <a:off x="594359" y="1920240"/>
            <a:ext cx="3566160" cy="324612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96511"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 y="213055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المعاينات والتجربة</a:t>
            </a:r>
          </a:p>
        </p:txBody>
      </p:sp>
      <p:sp>
        <p:nvSpPr>
          <p:cNvPr id="22" name="TextBox 21"/>
          <p:cNvSpPr txBox="1"/>
          <p:nvPr/>
        </p:nvSpPr>
        <p:spPr>
          <a:xfrm>
            <a:off x="777239" y="2825496"/>
            <a:ext cx="3154679" cy="226771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هتشوف إيه في الزيارة؟</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مواعيد ووحدات متاحة.</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 شهادات حقيقية بموافقة أصحابها.</a:t>
            </a:r>
          </a:p>
        </p:txBody>
      </p:sp>
      <p:sp>
        <p:nvSpPr>
          <p:cNvPr id="23" name="TextBox 22"/>
          <p:cNvSpPr txBox="1"/>
          <p:nvPr/>
        </p:nvSpPr>
        <p:spPr>
          <a:xfrm>
            <a:off x="685799" y="5394960"/>
            <a:ext cx="338328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176B76"/>
                </a:solidFill>
                <a:latin typeface="Noto Sans Arabic"/>
                <a:ea typeface="Noto Sans Arabic"/>
                <a:cs typeface="Noto Sans Arabic"/>
              </a:rPr>
              <a:t>حدد ميعاد المعاينة المناسب.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٠٧ / إيقاع النشر</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أسبوع محتوى متوازن</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٣ ريلز + بوست معلومات، وستوري مفيدة ٤–٥ أيام حسب المادة المتاحة.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19</a:t>
            </a:r>
          </a:p>
        </p:txBody>
      </p:sp>
      <p:sp>
        <p:nvSpPr>
          <p:cNvPr id="9" name="Rectangle 8"/>
          <p:cNvSpPr/>
          <p:nvPr/>
        </p:nvSpPr>
        <p:spPr>
          <a:xfrm>
            <a:off x="9400032" y="1874519"/>
            <a:ext cx="2171700"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91472" y="1965960"/>
            <a:ext cx="1984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اليوم</a:t>
            </a:r>
          </a:p>
        </p:txBody>
      </p:sp>
      <p:sp>
        <p:nvSpPr>
          <p:cNvPr id="11" name="Rectangle 10"/>
          <p:cNvSpPr/>
          <p:nvPr/>
        </p:nvSpPr>
        <p:spPr>
          <a:xfrm>
            <a:off x="4507992" y="1874519"/>
            <a:ext cx="4869179"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9431" y="1965960"/>
            <a:ext cx="468172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المحتوى</a:t>
            </a:r>
          </a:p>
        </p:txBody>
      </p:sp>
      <p:sp>
        <p:nvSpPr>
          <p:cNvPr id="13" name="Rectangle 12"/>
          <p:cNvSpPr/>
          <p:nvPr/>
        </p:nvSpPr>
        <p:spPr>
          <a:xfrm>
            <a:off x="594359" y="1874519"/>
            <a:ext cx="3890772"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1965960"/>
            <a:ext cx="370332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1" lang="ar-EG">
                <a:solidFill>
                  <a:srgbClr val="FFFFFF"/>
                </a:solidFill>
                <a:latin typeface="Noto Sans Arabic"/>
                <a:ea typeface="Noto Sans Arabic"/>
                <a:cs typeface="Noto Sans Arabic"/>
              </a:rPr>
              <a:t>الهدف</a:t>
            </a:r>
          </a:p>
        </p:txBody>
      </p:sp>
      <p:sp>
        <p:nvSpPr>
          <p:cNvPr id="15" name="Rectangle 14"/>
          <p:cNvSpPr/>
          <p:nvPr/>
        </p:nvSpPr>
        <p:spPr>
          <a:xfrm>
            <a:off x="9400032" y="2496312"/>
            <a:ext cx="217170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91472" y="2587752"/>
            <a:ext cx="1984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السبت</a:t>
            </a:r>
          </a:p>
        </p:txBody>
      </p:sp>
      <p:sp>
        <p:nvSpPr>
          <p:cNvPr id="17" name="Rectangle 16"/>
          <p:cNvSpPr/>
          <p:nvPr/>
        </p:nvSpPr>
        <p:spPr>
          <a:xfrm>
            <a:off x="4507992" y="2496312"/>
            <a:ext cx="486917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1" y="2587752"/>
            <a:ext cx="468172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جولة للموقع</a:t>
            </a:r>
          </a:p>
        </p:txBody>
      </p:sp>
      <p:sp>
        <p:nvSpPr>
          <p:cNvPr id="19" name="Rectangle 18"/>
          <p:cNvSpPr/>
          <p:nvPr/>
        </p:nvSpPr>
        <p:spPr>
          <a:xfrm>
            <a:off x="594359" y="2496312"/>
            <a:ext cx="3890772"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799" y="2587752"/>
            <a:ext cx="370332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تعريف بالمكان</a:t>
            </a:r>
          </a:p>
        </p:txBody>
      </p:sp>
      <p:sp>
        <p:nvSpPr>
          <p:cNvPr id="21" name="Rectangle 20"/>
          <p:cNvSpPr/>
          <p:nvPr/>
        </p:nvSpPr>
        <p:spPr>
          <a:xfrm>
            <a:off x="9400032" y="3118104"/>
            <a:ext cx="217170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91472" y="3209544"/>
            <a:ext cx="1984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الاثنين</a:t>
            </a:r>
          </a:p>
        </p:txBody>
      </p:sp>
      <p:sp>
        <p:nvSpPr>
          <p:cNvPr id="23" name="Rectangle 22"/>
          <p:cNvSpPr/>
          <p:nvPr/>
        </p:nvSpPr>
        <p:spPr>
          <a:xfrm>
            <a:off x="4507992" y="3118104"/>
            <a:ext cx="4869179"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99431" y="3209544"/>
            <a:ext cx="468172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تحديث تنفيذ مؤرخ</a:t>
            </a:r>
          </a:p>
        </p:txBody>
      </p:sp>
      <p:sp>
        <p:nvSpPr>
          <p:cNvPr id="25" name="Rectangle 24"/>
          <p:cNvSpPr/>
          <p:nvPr/>
        </p:nvSpPr>
        <p:spPr>
          <a:xfrm>
            <a:off x="594359" y="3118104"/>
            <a:ext cx="3890772"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3209544"/>
            <a:ext cx="370332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بناء ثقة</a:t>
            </a:r>
          </a:p>
        </p:txBody>
      </p:sp>
      <p:sp>
        <p:nvSpPr>
          <p:cNvPr id="27" name="Rectangle 26"/>
          <p:cNvSpPr/>
          <p:nvPr/>
        </p:nvSpPr>
        <p:spPr>
          <a:xfrm>
            <a:off x="9400032" y="3739896"/>
            <a:ext cx="217170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91472" y="3831335"/>
            <a:ext cx="1984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الأربعاء</a:t>
            </a:r>
          </a:p>
        </p:txBody>
      </p:sp>
      <p:sp>
        <p:nvSpPr>
          <p:cNvPr id="29" name="Rectangle 28"/>
          <p:cNvSpPr/>
          <p:nvPr/>
        </p:nvSpPr>
        <p:spPr>
          <a:xfrm>
            <a:off x="4507992" y="3739896"/>
            <a:ext cx="486917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9431" y="3831335"/>
            <a:ext cx="468172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شرح تقسيم وحدة</a:t>
            </a:r>
          </a:p>
        </p:txBody>
      </p:sp>
      <p:sp>
        <p:nvSpPr>
          <p:cNvPr id="31" name="Rectangle 30"/>
          <p:cNvSpPr/>
          <p:nvPr/>
        </p:nvSpPr>
        <p:spPr>
          <a:xfrm>
            <a:off x="594359" y="3739896"/>
            <a:ext cx="3890772"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799" y="3831335"/>
            <a:ext cx="370332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توضيح قيمة المنتج</a:t>
            </a:r>
          </a:p>
        </p:txBody>
      </p:sp>
      <p:sp>
        <p:nvSpPr>
          <p:cNvPr id="33" name="Rectangle 32"/>
          <p:cNvSpPr/>
          <p:nvPr/>
        </p:nvSpPr>
        <p:spPr>
          <a:xfrm>
            <a:off x="9400032" y="4361688"/>
            <a:ext cx="217170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91472" y="4453127"/>
            <a:ext cx="1984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الجمعة</a:t>
            </a:r>
          </a:p>
        </p:txBody>
      </p:sp>
      <p:sp>
        <p:nvSpPr>
          <p:cNvPr id="35" name="Rectangle 34"/>
          <p:cNvSpPr/>
          <p:nvPr/>
        </p:nvSpPr>
        <p:spPr>
          <a:xfrm>
            <a:off x="4507992" y="4361688"/>
            <a:ext cx="4869179"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99431" y="4453127"/>
            <a:ext cx="468172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بوست السعر والسداد</a:t>
            </a:r>
          </a:p>
        </p:txBody>
      </p:sp>
      <p:sp>
        <p:nvSpPr>
          <p:cNvPr id="37" name="Rectangle 36"/>
          <p:cNvSpPr/>
          <p:nvPr/>
        </p:nvSpPr>
        <p:spPr>
          <a:xfrm>
            <a:off x="594359" y="4361688"/>
            <a:ext cx="3890772"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799" y="4453127"/>
            <a:ext cx="370332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استفسارات مناسبة</a:t>
            </a:r>
          </a:p>
        </p:txBody>
      </p:sp>
      <p:sp>
        <p:nvSpPr>
          <p:cNvPr id="39" name="Rectangle 38"/>
          <p:cNvSpPr/>
          <p:nvPr/>
        </p:nvSpPr>
        <p:spPr>
          <a:xfrm>
            <a:off x="9400032" y="4983479"/>
            <a:ext cx="217170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91472" y="5074919"/>
            <a:ext cx="198424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خلال الأسبوع</a:t>
            </a:r>
          </a:p>
        </p:txBody>
      </p:sp>
      <p:sp>
        <p:nvSpPr>
          <p:cNvPr id="41" name="Rectangle 40"/>
          <p:cNvSpPr/>
          <p:nvPr/>
        </p:nvSpPr>
        <p:spPr>
          <a:xfrm>
            <a:off x="4507992" y="4983479"/>
            <a:ext cx="486917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99431" y="5074919"/>
            <a:ext cx="468172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ستوري أسئلة ومواعيد زيارات</a:t>
            </a:r>
          </a:p>
        </p:txBody>
      </p:sp>
      <p:sp>
        <p:nvSpPr>
          <p:cNvPr id="43" name="Rectangle 42"/>
          <p:cNvSpPr/>
          <p:nvPr/>
        </p:nvSpPr>
        <p:spPr>
          <a:xfrm>
            <a:off x="594359" y="4983479"/>
            <a:ext cx="3890772"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799" y="5074919"/>
            <a:ext cx="370332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163440"/>
                </a:solidFill>
                <a:latin typeface="Noto Sans Arabic"/>
                <a:ea typeface="Noto Sans Arabic"/>
                <a:cs typeface="Noto Sans Arabic"/>
              </a:rPr>
              <a:t>دعم المعاينات</a:t>
            </a:r>
          </a:p>
        </p:txBody>
      </p:sp>
      <p:sp>
        <p:nvSpPr>
          <p:cNvPr id="45" name="TextBox 44"/>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جلسة أسئلة وأجوبة شهرية مع المسؤول المناسب. الأولوية لمعلومة أو دليل جديد، مش تكرار العرض بتصميم مختلف.</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٠٧ / القنوات</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القنوات تتكامل حول رحلة واحدة</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نبدأ بقنوات نقدر نديرها ونقيس أثرها على المعاينة.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20</a:t>
            </a:r>
          </a:p>
        </p:txBody>
      </p:sp>
      <p:sp>
        <p:nvSpPr>
          <p:cNvPr id="9" name="Rounded Rectangle 8"/>
          <p:cNvSpPr/>
          <p:nvPr/>
        </p:nvSpPr>
        <p:spPr>
          <a:xfrm>
            <a:off x="6217920" y="1920240"/>
            <a:ext cx="5376672"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13055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فيسبوك وإنستجرام</a:t>
            </a:r>
          </a:p>
        </p:txBody>
      </p:sp>
      <p:sp>
        <p:nvSpPr>
          <p:cNvPr id="12" name="TextBox 11"/>
          <p:cNvSpPr txBox="1"/>
          <p:nvPr/>
        </p:nvSpPr>
        <p:spPr>
          <a:xfrm>
            <a:off x="6400800" y="2825496"/>
            <a:ext cx="4965192" cy="75895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اكتشاف المشروع واختبار الرسائل</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وإعادة الوصول للمهتمين.</a:t>
            </a:r>
          </a:p>
        </p:txBody>
      </p:sp>
      <p:sp>
        <p:nvSpPr>
          <p:cNvPr id="13" name="Rounded Rectangle 12"/>
          <p:cNvSpPr/>
          <p:nvPr/>
        </p:nvSpPr>
        <p:spPr>
          <a:xfrm>
            <a:off x="594360" y="1920240"/>
            <a:ext cx="5376672"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208483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13055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واتساب</a:t>
            </a:r>
          </a:p>
        </p:txBody>
      </p:sp>
      <p:sp>
        <p:nvSpPr>
          <p:cNvPr id="16" name="TextBox 15"/>
          <p:cNvSpPr txBox="1"/>
          <p:nvPr/>
        </p:nvSpPr>
        <p:spPr>
          <a:xfrm>
            <a:off x="777240" y="2825496"/>
            <a:ext cx="4965192" cy="75895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تأهيل، تفاصيل، مواعيد</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ومتابعة منظمة للمعاينات.</a:t>
            </a:r>
          </a:p>
        </p:txBody>
      </p:sp>
      <p:sp>
        <p:nvSpPr>
          <p:cNvPr id="17" name="Rounded Rectangle 16"/>
          <p:cNvSpPr/>
          <p:nvPr/>
        </p:nvSpPr>
        <p:spPr>
          <a:xfrm>
            <a:off x="6217920" y="3886200"/>
            <a:ext cx="5376672"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530584" y="4050791"/>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409651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مجموعات محلية مناسبة</a:t>
            </a:r>
          </a:p>
        </p:txBody>
      </p:sp>
      <p:sp>
        <p:nvSpPr>
          <p:cNvPr id="20" name="TextBox 19"/>
          <p:cNvSpPr txBox="1"/>
          <p:nvPr/>
        </p:nvSpPr>
        <p:spPr>
          <a:xfrm>
            <a:off x="6400800" y="4791456"/>
            <a:ext cx="4965192" cy="75895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وصول محلي حسب قواعد المجموعة</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وبمحتوى واضح وغير مكرر.</a:t>
            </a:r>
          </a:p>
        </p:txBody>
      </p:sp>
      <p:sp>
        <p:nvSpPr>
          <p:cNvPr id="21" name="Rounded Rectangle 20"/>
          <p:cNvSpPr/>
          <p:nvPr/>
        </p:nvSpPr>
        <p:spPr>
          <a:xfrm>
            <a:off x="594360" y="3886200"/>
            <a:ext cx="5376672" cy="173736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907024" y="4050791"/>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096512"/>
            <a:ext cx="4965192"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163440"/>
                </a:solidFill>
                <a:latin typeface="Noto Sans Arabic"/>
                <a:ea typeface="Noto Sans Arabic"/>
                <a:cs typeface="Noto Sans Arabic"/>
              </a:rPr>
              <a:t>تيك توك — اختبار اختياري</a:t>
            </a:r>
          </a:p>
        </p:txBody>
      </p:sp>
      <p:sp>
        <p:nvSpPr>
          <p:cNvPr id="24" name="TextBox 23"/>
          <p:cNvSpPr txBox="1"/>
          <p:nvPr/>
        </p:nvSpPr>
        <p:spPr>
          <a:xfrm>
            <a:off x="777240" y="4791456"/>
            <a:ext cx="4965192" cy="758951"/>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ندخله لو عندنا إنتاج فيديو مستمر</a:t>
            </a:r>
          </a:p>
          <a:p>
            <a:pPr algn="r" rtl="1">
              <a:lnSpc>
                <a:spcPct val="110000"/>
              </a:lnSpc>
              <a:spcBef>
                <a:spcPts val="0"/>
              </a:spcBef>
              <a:spcAft>
                <a:spcPts val="800"/>
              </a:spcAft>
            </a:pPr>
            <a:r>
              <a:rPr sz="1500" b="0" lang="ar-EG">
                <a:solidFill>
                  <a:srgbClr val="647A81"/>
                </a:solidFill>
                <a:latin typeface="Noto Sans Arabic"/>
                <a:ea typeface="Noto Sans Arabic"/>
                <a:cs typeface="Noto Sans Arabic"/>
              </a:rPr>
              <a:t>وقدرة على قياس جودة العملاء.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D38"/>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D8B36A"/>
                </a:solidFill>
                <a:latin typeface="Noto Sans Arabic"/>
                <a:ea typeface="Noto Sans Arabic"/>
                <a:cs typeface="Noto Sans Arabic"/>
              </a:rPr>
              <a:t>٠٧ / ميزانية الإعلان</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FFFFFF"/>
                </a:solidFill>
                <a:latin typeface="Noto Sans Arabic"/>
                <a:ea typeface="Noto Sans Arabic"/>
                <a:cs typeface="Noto Sans Arabic"/>
              </a:rPr>
              <a:t>نوزّع للتعلّم، ونعدّل حسب جودة النتائج</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CDE5DE"/>
                </a:solidFill>
                <a:latin typeface="Noto Sans Arabic"/>
                <a:ea typeface="Noto Sans Arabic"/>
                <a:cs typeface="Noto Sans Arabic"/>
              </a:rPr>
              <a:t>النسب لميزانية الإعلانات فقط؛ التصوير والإنتاج ليهم بند منفصل.</a:t>
            </a:r>
          </a:p>
        </p:txBody>
      </p:sp>
      <p:sp>
        <p:nvSpPr>
          <p:cNvPr id="6" name="Rectangle 5"/>
          <p:cNvSpPr/>
          <p:nvPr/>
        </p:nvSpPr>
        <p:spPr>
          <a:xfrm>
            <a:off x="594360" y="6391656"/>
            <a:ext cx="11000232" cy="1097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CDE5DE"/>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D8B36A"/>
                </a:solidFill>
                <a:latin typeface="Noto Sans Arabic"/>
                <a:ea typeface="Noto Sans Arabic"/>
                <a:cs typeface="Noto Sans Arabic"/>
              </a:rPr>
              <a:t>21</a:t>
            </a:r>
          </a:p>
        </p:txBody>
      </p:sp>
      <p:sp>
        <p:nvSpPr>
          <p:cNvPr id="9" name="Rectangle 8"/>
          <p:cNvSpPr/>
          <p:nvPr/>
        </p:nvSpPr>
        <p:spPr>
          <a:xfrm>
            <a:off x="4994452" y="2148840"/>
            <a:ext cx="6568135" cy="96012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94452" y="2286000"/>
            <a:ext cx="6563563" cy="548640"/>
          </a:xfrm>
          <a:prstGeom prst="rect">
            <a:avLst/>
          </a:prstGeom>
          <a:noFill/>
        </p:spPr>
        <p:txBody>
          <a:bodyPr wrap="square" lIns="36576" rIns="36576" tIns="22860" bIns="0">
            <a:spAutoFit/>
          </a:bodyPr>
          <a:lstStyle/>
          <a:p>
            <a:pPr algn="ctr" rtl="1">
              <a:lnSpc>
                <a:spcPct val="110000"/>
              </a:lnSpc>
              <a:spcBef>
                <a:spcPts val="0"/>
              </a:spcBef>
              <a:spcAft>
                <a:spcPts val="800"/>
              </a:spcAft>
            </a:pPr>
            <a:r>
              <a:rPr sz="3100" b="1" lang="ar-EG">
                <a:solidFill>
                  <a:srgbClr val="FFFFFF"/>
                </a:solidFill>
                <a:latin typeface="Noto Sans Arabic"/>
                <a:ea typeface="Noto Sans Arabic"/>
                <a:cs typeface="Noto Sans Arabic"/>
              </a:rPr>
              <a:t>٦٠٪</a:t>
            </a:r>
          </a:p>
        </p:txBody>
      </p:sp>
      <p:sp>
        <p:nvSpPr>
          <p:cNvPr id="11" name="Rectangle 10"/>
          <p:cNvSpPr/>
          <p:nvPr/>
        </p:nvSpPr>
        <p:spPr>
          <a:xfrm>
            <a:off x="2244394" y="2148840"/>
            <a:ext cx="2718053" cy="960120"/>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4394" y="2286000"/>
            <a:ext cx="2713482" cy="548640"/>
          </a:xfrm>
          <a:prstGeom prst="rect">
            <a:avLst/>
          </a:prstGeom>
          <a:noFill/>
        </p:spPr>
        <p:txBody>
          <a:bodyPr wrap="square" lIns="36576" rIns="36576" tIns="22860" bIns="0">
            <a:spAutoFit/>
          </a:bodyPr>
          <a:lstStyle/>
          <a:p>
            <a:pPr algn="ctr" rtl="1">
              <a:lnSpc>
                <a:spcPct val="110000"/>
              </a:lnSpc>
              <a:spcBef>
                <a:spcPts val="0"/>
              </a:spcBef>
              <a:spcAft>
                <a:spcPts val="800"/>
              </a:spcAft>
            </a:pPr>
            <a:r>
              <a:rPr sz="3100" b="1" lang="ar-EG">
                <a:solidFill>
                  <a:srgbClr val="102D38"/>
                </a:solidFill>
                <a:latin typeface="Noto Sans Arabic"/>
                <a:ea typeface="Noto Sans Arabic"/>
                <a:cs typeface="Noto Sans Arabic"/>
              </a:rPr>
              <a:t>٢٥٪</a:t>
            </a:r>
          </a:p>
        </p:txBody>
      </p:sp>
      <p:sp>
        <p:nvSpPr>
          <p:cNvPr id="13" name="Rectangle 12"/>
          <p:cNvSpPr/>
          <p:nvPr/>
        </p:nvSpPr>
        <p:spPr>
          <a:xfrm>
            <a:off x="594360" y="2148840"/>
            <a:ext cx="1618030" cy="960120"/>
          </a:xfrm>
          <a:prstGeom prst="rect">
            <a:avLst/>
          </a:prstGeom>
          <a:solidFill>
            <a:srgbClr val="CDE5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286000"/>
            <a:ext cx="1613458" cy="548640"/>
          </a:xfrm>
          <a:prstGeom prst="rect">
            <a:avLst/>
          </a:prstGeom>
          <a:noFill/>
        </p:spPr>
        <p:txBody>
          <a:bodyPr wrap="square" lIns="36576" rIns="36576" tIns="22860" bIns="0">
            <a:spAutoFit/>
          </a:bodyPr>
          <a:lstStyle/>
          <a:p>
            <a:pPr algn="ctr" rtl="1">
              <a:lnSpc>
                <a:spcPct val="110000"/>
              </a:lnSpc>
              <a:spcBef>
                <a:spcPts val="0"/>
              </a:spcBef>
              <a:spcAft>
                <a:spcPts val="800"/>
              </a:spcAft>
            </a:pPr>
            <a:r>
              <a:rPr sz="3100" b="1" lang="ar-EG">
                <a:solidFill>
                  <a:srgbClr val="102D38"/>
                </a:solidFill>
                <a:latin typeface="Noto Sans Arabic"/>
                <a:ea typeface="Noto Sans Arabic"/>
                <a:cs typeface="Noto Sans Arabic"/>
              </a:rPr>
              <a:t>١٥٪</a:t>
            </a:r>
          </a:p>
        </p:txBody>
      </p:sp>
      <p:sp>
        <p:nvSpPr>
          <p:cNvPr id="15" name="TextBox 14"/>
          <p:cNvSpPr txBox="1"/>
          <p:nvPr/>
        </p:nvSpPr>
        <p:spPr>
          <a:xfrm>
            <a:off x="8028431" y="3657600"/>
            <a:ext cx="3566160" cy="50292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FFFFFF"/>
                </a:solidFill>
                <a:latin typeface="Noto Sans Arabic"/>
                <a:ea typeface="Noto Sans Arabic"/>
                <a:cs typeface="Noto Sans Arabic"/>
              </a:rPr>
              <a:t>عملاء جدد</a:t>
            </a:r>
          </a:p>
        </p:txBody>
      </p:sp>
      <p:sp>
        <p:nvSpPr>
          <p:cNvPr id="16" name="TextBox 15"/>
          <p:cNvSpPr txBox="1"/>
          <p:nvPr/>
        </p:nvSpPr>
        <p:spPr>
          <a:xfrm>
            <a:off x="8028431" y="4343400"/>
            <a:ext cx="35661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CDE5DE"/>
                </a:solidFill>
                <a:latin typeface="Noto Sans Arabic"/>
                <a:ea typeface="Noto Sans Arabic"/>
                <a:cs typeface="Noto Sans Arabic"/>
              </a:rPr>
              <a:t>اختبار جمهور ورسائل مختلفة</a:t>
            </a:r>
          </a:p>
        </p:txBody>
      </p:sp>
      <p:sp>
        <p:nvSpPr>
          <p:cNvPr id="17" name="TextBox 16"/>
          <p:cNvSpPr txBox="1"/>
          <p:nvPr/>
        </p:nvSpPr>
        <p:spPr>
          <a:xfrm>
            <a:off x="4311395" y="3657600"/>
            <a:ext cx="3566160" cy="50292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FFFFFF"/>
                </a:solidFill>
                <a:latin typeface="Noto Sans Arabic"/>
                <a:ea typeface="Noto Sans Arabic"/>
                <a:cs typeface="Noto Sans Arabic"/>
              </a:rPr>
              <a:t>إعادة الوصول</a:t>
            </a:r>
          </a:p>
        </p:txBody>
      </p:sp>
      <p:sp>
        <p:nvSpPr>
          <p:cNvPr id="18" name="TextBox 17"/>
          <p:cNvSpPr txBox="1"/>
          <p:nvPr/>
        </p:nvSpPr>
        <p:spPr>
          <a:xfrm>
            <a:off x="4311395" y="4343400"/>
            <a:ext cx="35661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CDE5DE"/>
                </a:solidFill>
                <a:latin typeface="Noto Sans Arabic"/>
                <a:ea typeface="Noto Sans Arabic"/>
                <a:cs typeface="Noto Sans Arabic"/>
              </a:rPr>
              <a:t>لما حجم جمهور المهتمين يسمح</a:t>
            </a:r>
          </a:p>
        </p:txBody>
      </p:sp>
      <p:sp>
        <p:nvSpPr>
          <p:cNvPr id="19" name="TextBox 18"/>
          <p:cNvSpPr txBox="1"/>
          <p:nvPr/>
        </p:nvSpPr>
        <p:spPr>
          <a:xfrm>
            <a:off x="594359" y="3657600"/>
            <a:ext cx="3566160" cy="502920"/>
          </a:xfrm>
          <a:prstGeom prst="rect">
            <a:avLst/>
          </a:prstGeom>
          <a:noFill/>
        </p:spPr>
        <p:txBody>
          <a:bodyPr wrap="square" lIns="36576" rIns="36576" tIns="22860" bIns="0">
            <a:spAutoFit/>
          </a:bodyPr>
          <a:lstStyle/>
          <a:p>
            <a:pPr algn="r" rtl="1">
              <a:lnSpc>
                <a:spcPct val="110000"/>
              </a:lnSpc>
              <a:spcBef>
                <a:spcPts val="0"/>
              </a:spcBef>
              <a:spcAft>
                <a:spcPts val="800"/>
              </a:spcAft>
            </a:pPr>
            <a:r>
              <a:rPr sz="2300" b="1" lang="ar-EG">
                <a:solidFill>
                  <a:srgbClr val="FFFFFF"/>
                </a:solidFill>
                <a:latin typeface="Noto Sans Arabic"/>
                <a:ea typeface="Noto Sans Arabic"/>
                <a:cs typeface="Noto Sans Arabic"/>
              </a:rPr>
              <a:t>اختبارات جديدة</a:t>
            </a:r>
          </a:p>
        </p:txBody>
      </p:sp>
      <p:sp>
        <p:nvSpPr>
          <p:cNvPr id="20" name="TextBox 19"/>
          <p:cNvSpPr txBox="1"/>
          <p:nvPr/>
        </p:nvSpPr>
        <p:spPr>
          <a:xfrm>
            <a:off x="594359" y="4343400"/>
            <a:ext cx="35661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CDE5DE"/>
                </a:solidFill>
                <a:latin typeface="Noto Sans Arabic"/>
                <a:ea typeface="Noto Sans Arabic"/>
                <a:cs typeface="Noto Sans Arabic"/>
              </a:rPr>
              <a:t>إبداعات وزوايا بيع جديدة</a:t>
            </a:r>
          </a:p>
        </p:txBody>
      </p:sp>
      <p:sp>
        <p:nvSpPr>
          <p:cNvPr id="21" name="TextBox 20"/>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CDE5DE"/>
                </a:solidFill>
                <a:latin typeface="Noto Sans Arabic"/>
                <a:ea typeface="Noto Sans Arabic"/>
                <a:cs typeface="Noto Sans Arabic"/>
              </a:rPr>
              <a:t>لو الميزانية محدودة نقلل عدد الاختبارات. نزيد الإنفاق لما تكلفة وجودة المعاينة وقدرة المبيعات يسمحوا.</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٠٧ / نماذج إبداعية</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٣ زوايا إعلانية نبدأ نختبرها</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نماذج صياغة مبدئية؛ كل إعلان يتربط بوحدة ومعلومات مؤكدة.</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22</a:t>
            </a:r>
          </a:p>
        </p:txBody>
      </p:sp>
      <p:sp>
        <p:nvSpPr>
          <p:cNvPr id="9" name="Rounded Rectangle 8"/>
          <p:cNvSpPr/>
          <p:nvPr/>
        </p:nvSpPr>
        <p:spPr>
          <a:xfrm>
            <a:off x="8028431" y="1920240"/>
            <a:ext cx="3566160" cy="3749039"/>
          </a:xfrm>
          <a:prstGeom prst="roundRect">
            <a:avLst>
              <a:gd name="adj" fmla="val 12000"/>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57031" y="2148840"/>
            <a:ext cx="310896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3607" y="2157984"/>
            <a:ext cx="303580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المكان</a:t>
            </a:r>
          </a:p>
        </p:txBody>
      </p:sp>
      <p:sp>
        <p:nvSpPr>
          <p:cNvPr id="12" name="TextBox 11"/>
          <p:cNvSpPr txBox="1"/>
          <p:nvPr/>
        </p:nvSpPr>
        <p:spPr>
          <a:xfrm>
            <a:off x="8257031" y="2852928"/>
            <a:ext cx="3108960" cy="1691640"/>
          </a:xfrm>
          <a:prstGeom prst="rect">
            <a:avLst/>
          </a:prstGeom>
          <a:noFill/>
        </p:spPr>
        <p:txBody>
          <a:bodyPr wrap="square" lIns="36576" rIns="36576" tIns="22860" bIns="0">
            <a:spAutoFit/>
          </a:bodyPr>
          <a:lstStyle/>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«شقتك في شرق النيل،</a:t>
            </a:r>
          </a:p>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الحي الثالث، على طريق</a:t>
            </a:r>
          </a:p>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الأربع حارات».</a:t>
            </a:r>
          </a:p>
        </p:txBody>
      </p:sp>
      <p:sp>
        <p:nvSpPr>
          <p:cNvPr id="13" name="TextBox 12"/>
          <p:cNvSpPr txBox="1"/>
          <p:nvPr/>
        </p:nvSpPr>
        <p:spPr>
          <a:xfrm>
            <a:off x="8257031" y="4983480"/>
            <a:ext cx="3108960" cy="411480"/>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1" lang="ar-EG">
                <a:solidFill>
                  <a:srgbClr val="D8B36A"/>
                </a:solidFill>
                <a:latin typeface="Noto Sans Arabic"/>
                <a:ea typeface="Noto Sans Arabic"/>
                <a:cs typeface="Noto Sans Arabic"/>
              </a:rPr>
              <a:t>شوف الموقع بنفسك.</a:t>
            </a:r>
          </a:p>
        </p:txBody>
      </p:sp>
      <p:sp>
        <p:nvSpPr>
          <p:cNvPr id="14" name="Rounded Rectangle 13"/>
          <p:cNvSpPr/>
          <p:nvPr/>
        </p:nvSpPr>
        <p:spPr>
          <a:xfrm>
            <a:off x="4311395" y="1920240"/>
            <a:ext cx="3566160" cy="3749039"/>
          </a:xfrm>
          <a:prstGeom prst="roundRect">
            <a:avLst>
              <a:gd name="adj" fmla="val 12000"/>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39995" y="2148840"/>
            <a:ext cx="310896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6571" y="2157984"/>
            <a:ext cx="303580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الثقة</a:t>
            </a:r>
          </a:p>
        </p:txBody>
      </p:sp>
      <p:sp>
        <p:nvSpPr>
          <p:cNvPr id="17" name="TextBox 16"/>
          <p:cNvSpPr txBox="1"/>
          <p:nvPr/>
        </p:nvSpPr>
        <p:spPr>
          <a:xfrm>
            <a:off x="4539995" y="2852928"/>
            <a:ext cx="3108960" cy="1691640"/>
          </a:xfrm>
          <a:prstGeom prst="rect">
            <a:avLst/>
          </a:prstGeom>
          <a:noFill/>
        </p:spPr>
        <p:txBody>
          <a:bodyPr wrap="square" lIns="36576" rIns="36576" tIns="22860" bIns="0">
            <a:spAutoFit/>
          </a:bodyPr>
          <a:lstStyle/>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«بتشتري تحت الإنشاء؟</a:t>
            </a:r>
          </a:p>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تعالى شوف مرحلة التنفيذ</a:t>
            </a:r>
          </a:p>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واسأل عن تفاصيل التسليم».</a:t>
            </a:r>
          </a:p>
        </p:txBody>
      </p:sp>
      <p:sp>
        <p:nvSpPr>
          <p:cNvPr id="18" name="TextBox 17"/>
          <p:cNvSpPr txBox="1"/>
          <p:nvPr/>
        </p:nvSpPr>
        <p:spPr>
          <a:xfrm>
            <a:off x="4539995" y="4983480"/>
            <a:ext cx="3108960" cy="411480"/>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1" lang="ar-EG">
                <a:solidFill>
                  <a:srgbClr val="D8B36A"/>
                </a:solidFill>
                <a:latin typeface="Noto Sans Arabic"/>
                <a:ea typeface="Noto Sans Arabic"/>
                <a:cs typeface="Noto Sans Arabic"/>
              </a:rPr>
              <a:t>احجز زيارة للمشروع.</a:t>
            </a:r>
          </a:p>
        </p:txBody>
      </p:sp>
      <p:sp>
        <p:nvSpPr>
          <p:cNvPr id="19" name="Rounded Rectangle 18"/>
          <p:cNvSpPr/>
          <p:nvPr/>
        </p:nvSpPr>
        <p:spPr>
          <a:xfrm>
            <a:off x="594359" y="1920240"/>
            <a:ext cx="3566160" cy="3749039"/>
          </a:xfrm>
          <a:prstGeom prst="roundRect">
            <a:avLst>
              <a:gd name="adj" fmla="val 12000"/>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22959" y="2148840"/>
            <a:ext cx="3108960" cy="310896"/>
          </a:xfrm>
          <a:prstGeom prst="roundRect">
            <a:avLst>
              <a:gd name="adj" fmla="val 12000"/>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5" y="2157984"/>
            <a:ext cx="3035808" cy="274320"/>
          </a:xfrm>
          <a:prstGeom prst="rect">
            <a:avLst/>
          </a:prstGeom>
          <a:noFill/>
        </p:spPr>
        <p:txBody>
          <a:bodyPr wrap="square" lIns="36576" rIns="36576" tIns="22860" bIns="0">
            <a:spAutoFit/>
          </a:bodyPr>
          <a:lstStyle/>
          <a:p>
            <a:pPr algn="ctr" rtl="1">
              <a:lnSpc>
                <a:spcPct val="110000"/>
              </a:lnSpc>
              <a:spcBef>
                <a:spcPts val="0"/>
              </a:spcBef>
              <a:spcAft>
                <a:spcPts val="800"/>
              </a:spcAft>
            </a:pPr>
            <a:r>
              <a:rPr sz="1000" b="1" lang="ar-EG">
                <a:solidFill>
                  <a:srgbClr val="102D38"/>
                </a:solidFill>
                <a:latin typeface="Noto Sans Arabic"/>
                <a:ea typeface="Noto Sans Arabic"/>
                <a:cs typeface="Noto Sans Arabic"/>
              </a:rPr>
              <a:t>العرض المالي</a:t>
            </a:r>
          </a:p>
        </p:txBody>
      </p:sp>
      <p:sp>
        <p:nvSpPr>
          <p:cNvPr id="22" name="TextBox 21"/>
          <p:cNvSpPr txBox="1"/>
          <p:nvPr/>
        </p:nvSpPr>
        <p:spPr>
          <a:xfrm>
            <a:off x="822959" y="2852928"/>
            <a:ext cx="3108960" cy="1691640"/>
          </a:xfrm>
          <a:prstGeom prst="rect">
            <a:avLst/>
          </a:prstGeom>
          <a:noFill/>
        </p:spPr>
        <p:txBody>
          <a:bodyPr wrap="square" lIns="36576" rIns="36576" tIns="22860" bIns="0">
            <a:spAutoFit/>
          </a:bodyPr>
          <a:lstStyle/>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«سعر ١٫٨ مليون جنيه،</a:t>
            </a:r>
          </a:p>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مقدم ٥٤٠ ألف جنيه،</a:t>
            </a:r>
          </a:p>
          <a:p>
            <a:pPr algn="r" rtl="1">
              <a:lnSpc>
                <a:spcPct val="110000"/>
              </a:lnSpc>
              <a:spcBef>
                <a:spcPts val="0"/>
              </a:spcBef>
              <a:spcAft>
                <a:spcPts val="800"/>
              </a:spcAft>
            </a:pPr>
            <a:r>
              <a:rPr sz="2100" b="1" lang="ar-EG">
                <a:solidFill>
                  <a:srgbClr val="FFFFFF"/>
                </a:solidFill>
                <a:latin typeface="Noto Sans Arabic"/>
                <a:ea typeface="Noto Sans Arabic"/>
                <a:cs typeface="Noto Sans Arabic"/>
              </a:rPr>
              <a:t>والباقي على سنتين».</a:t>
            </a:r>
          </a:p>
        </p:txBody>
      </p:sp>
      <p:sp>
        <p:nvSpPr>
          <p:cNvPr id="23" name="TextBox 22"/>
          <p:cNvSpPr txBox="1"/>
          <p:nvPr/>
        </p:nvSpPr>
        <p:spPr>
          <a:xfrm>
            <a:off x="822959" y="4983480"/>
            <a:ext cx="3108960" cy="411480"/>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1" lang="ar-EG">
                <a:solidFill>
                  <a:srgbClr val="D8B36A"/>
                </a:solidFill>
                <a:latin typeface="Noto Sans Arabic"/>
                <a:ea typeface="Noto Sans Arabic"/>
                <a:cs typeface="Noto Sans Arabic"/>
              </a:rPr>
              <a:t>اطلب الجدول الكامل.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٠٤ / تكامل التسويق والمبيعات</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الرد السريع مهم… والرد المفيد أهم</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مقترح: رد خلال ١٠ دقايق أثناء العمل، لو عدد الفريق يسمح.</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23</a:t>
            </a:r>
          </a:p>
        </p:txBody>
      </p:sp>
      <p:sp>
        <p:nvSpPr>
          <p:cNvPr id="9" name="Rectangle 8"/>
          <p:cNvSpPr/>
          <p:nvPr/>
        </p:nvSpPr>
        <p:spPr>
          <a:xfrm>
            <a:off x="8851392" y="1874519"/>
            <a:ext cx="2720340"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42832" y="1965960"/>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1" lang="ar-EG">
                <a:solidFill>
                  <a:srgbClr val="FFFFFF"/>
                </a:solidFill>
                <a:latin typeface="Noto Sans Arabic"/>
                <a:ea typeface="Noto Sans Arabic"/>
                <a:cs typeface="Noto Sans Arabic"/>
              </a:rPr>
              <a:t>المرحلة</a:t>
            </a:r>
          </a:p>
        </p:txBody>
      </p:sp>
      <p:sp>
        <p:nvSpPr>
          <p:cNvPr id="11" name="Rectangle 10"/>
          <p:cNvSpPr/>
          <p:nvPr/>
        </p:nvSpPr>
        <p:spPr>
          <a:xfrm>
            <a:off x="594360" y="1874519"/>
            <a:ext cx="8234171"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1965960"/>
            <a:ext cx="804671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1" lang="ar-EG">
                <a:solidFill>
                  <a:srgbClr val="FFFFFF"/>
                </a:solidFill>
                <a:latin typeface="Noto Sans Arabic"/>
                <a:ea typeface="Noto Sans Arabic"/>
                <a:cs typeface="Noto Sans Arabic"/>
              </a:rPr>
              <a:t>التصرف المطلوب</a:t>
            </a:r>
          </a:p>
        </p:txBody>
      </p:sp>
      <p:sp>
        <p:nvSpPr>
          <p:cNvPr id="13" name="Rectangle 12"/>
          <p:cNvSpPr/>
          <p:nvPr/>
        </p:nvSpPr>
        <p:spPr>
          <a:xfrm>
            <a:off x="8851392" y="2496312"/>
            <a:ext cx="27203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42832" y="2587752"/>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أول رد</a:t>
            </a:r>
          </a:p>
        </p:txBody>
      </p:sp>
      <p:sp>
        <p:nvSpPr>
          <p:cNvPr id="15" name="Rectangle 14"/>
          <p:cNvSpPr/>
          <p:nvPr/>
        </p:nvSpPr>
        <p:spPr>
          <a:xfrm>
            <a:off x="594360" y="2496312"/>
            <a:ext cx="823417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587752"/>
            <a:ext cx="804671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ترحيب + ملخص العرض + سؤال عن هدف الشراء</a:t>
            </a:r>
          </a:p>
        </p:txBody>
      </p:sp>
      <p:sp>
        <p:nvSpPr>
          <p:cNvPr id="17" name="Rectangle 16"/>
          <p:cNvSpPr/>
          <p:nvPr/>
        </p:nvSpPr>
        <p:spPr>
          <a:xfrm>
            <a:off x="8851392" y="3118104"/>
            <a:ext cx="272034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42832" y="3209544"/>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تأهيل تدريجي</a:t>
            </a:r>
          </a:p>
        </p:txBody>
      </p:sp>
      <p:sp>
        <p:nvSpPr>
          <p:cNvPr id="19" name="Rectangle 18"/>
          <p:cNvSpPr/>
          <p:nvPr/>
        </p:nvSpPr>
        <p:spPr>
          <a:xfrm>
            <a:off x="594360" y="3118104"/>
            <a:ext cx="8234171"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09544"/>
            <a:ext cx="804671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المساحة المطلوبة والتسليم ومناسبة المقدم والسداد</a:t>
            </a:r>
          </a:p>
        </p:txBody>
      </p:sp>
      <p:sp>
        <p:nvSpPr>
          <p:cNvPr id="21" name="Rectangle 20"/>
          <p:cNvSpPr/>
          <p:nvPr/>
        </p:nvSpPr>
        <p:spPr>
          <a:xfrm>
            <a:off x="8851392" y="3739896"/>
            <a:ext cx="27203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42832" y="3831335"/>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قبل الزيارة</a:t>
            </a:r>
          </a:p>
        </p:txBody>
      </p:sp>
      <p:sp>
        <p:nvSpPr>
          <p:cNvPr id="23" name="Rectangle 22"/>
          <p:cNvSpPr/>
          <p:nvPr/>
        </p:nvSpPr>
        <p:spPr>
          <a:xfrm>
            <a:off x="594360" y="3739896"/>
            <a:ext cx="823417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3831335"/>
            <a:ext cx="804671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تأكيد الموعد وإرسال اللوكيشن وتوضيح اللي هيتشاف</a:t>
            </a:r>
          </a:p>
        </p:txBody>
      </p:sp>
      <p:sp>
        <p:nvSpPr>
          <p:cNvPr id="25" name="Rectangle 24"/>
          <p:cNvSpPr/>
          <p:nvPr/>
        </p:nvSpPr>
        <p:spPr>
          <a:xfrm>
            <a:off x="8851392" y="4361688"/>
            <a:ext cx="272034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42832" y="4453127"/>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بعد الزيارة</a:t>
            </a:r>
          </a:p>
        </p:txBody>
      </p:sp>
      <p:sp>
        <p:nvSpPr>
          <p:cNvPr id="27" name="Rectangle 26"/>
          <p:cNvSpPr/>
          <p:nvPr/>
        </p:nvSpPr>
        <p:spPr>
          <a:xfrm>
            <a:off x="594360" y="4361688"/>
            <a:ext cx="8234171"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453127"/>
            <a:ext cx="804671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معلومة تعالج الاعتراض + خطوة متابعة متفق عليها</a:t>
            </a:r>
          </a:p>
        </p:txBody>
      </p:sp>
      <p:sp>
        <p:nvSpPr>
          <p:cNvPr id="29" name="Rectangle 28"/>
          <p:cNvSpPr/>
          <p:nvPr/>
        </p:nvSpPr>
        <p:spPr>
          <a:xfrm>
            <a:off x="8851392" y="4983479"/>
            <a:ext cx="27203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42832" y="5074919"/>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تسجيل ومراجعة</a:t>
            </a:r>
          </a:p>
        </p:txBody>
      </p:sp>
      <p:sp>
        <p:nvSpPr>
          <p:cNvPr id="31" name="Rectangle 30"/>
          <p:cNvSpPr/>
          <p:nvPr/>
        </p:nvSpPr>
        <p:spPr>
          <a:xfrm>
            <a:off x="594360" y="4983479"/>
            <a:ext cx="8234171"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5074919"/>
            <a:ext cx="8046719"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600" b="0" lang="ar-EG">
                <a:solidFill>
                  <a:srgbClr val="163440"/>
                </a:solidFill>
                <a:latin typeface="Noto Sans Arabic"/>
                <a:ea typeface="Noto Sans Arabic"/>
                <a:cs typeface="Noto Sans Arabic"/>
              </a:rPr>
              <a:t>مصدر العميل وحالته وسبب خسارة الفرصة إن حصل</a:t>
            </a:r>
          </a:p>
        </p:txBody>
      </p:sp>
      <p:sp>
        <p:nvSpPr>
          <p:cNvPr id="33" name="TextBox 32"/>
          <p:cNvSpPr txBox="1"/>
          <p:nvPr/>
        </p:nvSpPr>
        <p:spPr>
          <a:xfrm>
            <a:off x="658368" y="6007608"/>
            <a:ext cx="10881360" cy="292608"/>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0" lang="ar-EG">
                <a:solidFill>
                  <a:srgbClr val="647A81"/>
                </a:solidFill>
                <a:latin typeface="Noto Sans Arabic"/>
                <a:ea typeface="Noto Sans Arabic"/>
                <a:cs typeface="Noto Sans Arabic"/>
              </a:rPr>
              <a:t>ملف واحد للعملاء ومراجعة أسبوعية للتسويق والمبيعات؛ كل اعتراض متكرر فرصة لمحتوى جديد.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6"/>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176B76"/>
                </a:solidFill>
                <a:latin typeface="Noto Sans Arabic"/>
                <a:ea typeface="Noto Sans Arabic"/>
                <a:cs typeface="Noto Sans Arabic"/>
              </a:rPr>
              <a:t>جاهزية الإطلاق</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163440"/>
                </a:solidFill>
                <a:latin typeface="Noto Sans Arabic"/>
                <a:ea typeface="Noto Sans Arabic"/>
                <a:cs typeface="Noto Sans Arabic"/>
              </a:rPr>
              <a:t>إيه اللي لازم يبقى جاهز قبل الإنفاق؟</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647A81"/>
                </a:solidFill>
                <a:latin typeface="Noto Sans Arabic"/>
                <a:ea typeface="Noto Sans Arabic"/>
                <a:cs typeface="Noto Sans Arabic"/>
              </a:rPr>
              <a:t>تجهيز البيانات يقلل الاستفسارات غير المناسبة ويقوّي موقف فريق البيع.</a:t>
            </a:r>
          </a:p>
        </p:txBody>
      </p:sp>
      <p:sp>
        <p:nvSpPr>
          <p:cNvPr id="6" name="Rectangle 5"/>
          <p:cNvSpPr/>
          <p:nvPr/>
        </p:nvSpPr>
        <p:spPr>
          <a:xfrm>
            <a:off x="594360" y="6391656"/>
            <a:ext cx="11000232" cy="10972"/>
          </a:xfrm>
          <a:prstGeom prst="rect">
            <a:avLst/>
          </a:prstGeom>
          <a:solidFill>
            <a:srgbClr val="DCE5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647A81"/>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176B76"/>
                </a:solidFill>
                <a:latin typeface="Noto Sans Arabic"/>
                <a:ea typeface="Noto Sans Arabic"/>
                <a:cs typeface="Noto Sans Arabic"/>
              </a:rPr>
              <a:t>24</a:t>
            </a:r>
          </a:p>
        </p:txBody>
      </p:sp>
      <p:sp>
        <p:nvSpPr>
          <p:cNvPr id="9" name="Rectangle 8"/>
          <p:cNvSpPr/>
          <p:nvPr/>
        </p:nvSpPr>
        <p:spPr>
          <a:xfrm>
            <a:off x="7662672" y="1874519"/>
            <a:ext cx="3909059"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54112" y="1965960"/>
            <a:ext cx="372160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1" lang="ar-EG">
                <a:solidFill>
                  <a:srgbClr val="FFFFFF"/>
                </a:solidFill>
                <a:latin typeface="Noto Sans Arabic"/>
                <a:ea typeface="Noto Sans Arabic"/>
                <a:cs typeface="Noto Sans Arabic"/>
              </a:rPr>
              <a:t>المطلوب</a:t>
            </a:r>
          </a:p>
        </p:txBody>
      </p:sp>
      <p:sp>
        <p:nvSpPr>
          <p:cNvPr id="11" name="Rectangle 10"/>
          <p:cNvSpPr/>
          <p:nvPr/>
        </p:nvSpPr>
        <p:spPr>
          <a:xfrm>
            <a:off x="4919472" y="1874519"/>
            <a:ext cx="2720340"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10912" y="1965960"/>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1" lang="ar-EG">
                <a:solidFill>
                  <a:srgbClr val="FFFFFF"/>
                </a:solidFill>
                <a:latin typeface="Noto Sans Arabic"/>
                <a:ea typeface="Noto Sans Arabic"/>
                <a:cs typeface="Noto Sans Arabic"/>
              </a:rPr>
              <a:t>المسؤول المقترح</a:t>
            </a:r>
          </a:p>
        </p:txBody>
      </p:sp>
      <p:sp>
        <p:nvSpPr>
          <p:cNvPr id="13" name="Rectangle 12"/>
          <p:cNvSpPr/>
          <p:nvPr/>
        </p:nvSpPr>
        <p:spPr>
          <a:xfrm>
            <a:off x="594360" y="1874519"/>
            <a:ext cx="4302252" cy="598932"/>
          </a:xfrm>
          <a:prstGeom prst="rect">
            <a:avLst/>
          </a:prstGeom>
          <a:solidFill>
            <a:srgbClr val="102D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965960"/>
            <a:ext cx="411480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300" b="1" lang="ar-EG">
                <a:solidFill>
                  <a:srgbClr val="FFFFFF"/>
                </a:solidFill>
                <a:latin typeface="Noto Sans Arabic"/>
                <a:ea typeface="Noto Sans Arabic"/>
                <a:cs typeface="Noto Sans Arabic"/>
              </a:rPr>
              <a:t>المخرج</a:t>
            </a:r>
          </a:p>
        </p:txBody>
      </p:sp>
      <p:sp>
        <p:nvSpPr>
          <p:cNvPr id="15" name="Rectangle 14"/>
          <p:cNvSpPr/>
          <p:nvPr/>
        </p:nvSpPr>
        <p:spPr>
          <a:xfrm>
            <a:off x="7662672" y="2496312"/>
            <a:ext cx="390905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54112" y="2587752"/>
            <a:ext cx="372160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المساحة والتقسيم والتشطيب</a:t>
            </a:r>
          </a:p>
        </p:txBody>
      </p:sp>
      <p:sp>
        <p:nvSpPr>
          <p:cNvPr id="17" name="Rectangle 16"/>
          <p:cNvSpPr/>
          <p:nvPr/>
        </p:nvSpPr>
        <p:spPr>
          <a:xfrm>
            <a:off x="4919472" y="2496312"/>
            <a:ext cx="27203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10912" y="2587752"/>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الفريق الفني</a:t>
            </a:r>
          </a:p>
        </p:txBody>
      </p:sp>
      <p:sp>
        <p:nvSpPr>
          <p:cNvPr id="19" name="Rectangle 18"/>
          <p:cNvSpPr/>
          <p:nvPr/>
        </p:nvSpPr>
        <p:spPr>
          <a:xfrm>
            <a:off x="594360" y="2496312"/>
            <a:ext cx="4302252"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587752"/>
            <a:ext cx="411480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مخططات ومواصفات لكل وحدة</a:t>
            </a:r>
          </a:p>
        </p:txBody>
      </p:sp>
      <p:sp>
        <p:nvSpPr>
          <p:cNvPr id="21" name="Rectangle 20"/>
          <p:cNvSpPr/>
          <p:nvPr/>
        </p:nvSpPr>
        <p:spPr>
          <a:xfrm>
            <a:off x="7662672" y="3118104"/>
            <a:ext cx="3909059"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54112" y="3209544"/>
            <a:ext cx="372160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التسليم ومرحلة التنفيذ</a:t>
            </a:r>
          </a:p>
        </p:txBody>
      </p:sp>
      <p:sp>
        <p:nvSpPr>
          <p:cNvPr id="23" name="Rectangle 22"/>
          <p:cNvSpPr/>
          <p:nvPr/>
        </p:nvSpPr>
        <p:spPr>
          <a:xfrm>
            <a:off x="4919472" y="3118104"/>
            <a:ext cx="272034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10912" y="3209544"/>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إدارة المشروع</a:t>
            </a:r>
          </a:p>
        </p:txBody>
      </p:sp>
      <p:sp>
        <p:nvSpPr>
          <p:cNvPr id="25" name="Rectangle 24"/>
          <p:cNvSpPr/>
          <p:nvPr/>
        </p:nvSpPr>
        <p:spPr>
          <a:xfrm>
            <a:off x="594360" y="3118104"/>
            <a:ext cx="4302252"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209544"/>
            <a:ext cx="411480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موعد معتمد وتوثيق مؤرخ</a:t>
            </a:r>
          </a:p>
        </p:txBody>
      </p:sp>
      <p:sp>
        <p:nvSpPr>
          <p:cNvPr id="27" name="Rectangle 26"/>
          <p:cNvSpPr/>
          <p:nvPr/>
        </p:nvSpPr>
        <p:spPr>
          <a:xfrm>
            <a:off x="7662672" y="3739896"/>
            <a:ext cx="390905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54112" y="3831335"/>
            <a:ext cx="372160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السعر والأقساط والمصاريف</a:t>
            </a:r>
          </a:p>
        </p:txBody>
      </p:sp>
      <p:sp>
        <p:nvSpPr>
          <p:cNvPr id="29" name="Rectangle 28"/>
          <p:cNvSpPr/>
          <p:nvPr/>
        </p:nvSpPr>
        <p:spPr>
          <a:xfrm>
            <a:off x="4919472" y="3739896"/>
            <a:ext cx="27203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10912" y="3831335"/>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المبيعات والإدارة</a:t>
            </a:r>
          </a:p>
        </p:txBody>
      </p:sp>
      <p:sp>
        <p:nvSpPr>
          <p:cNvPr id="31" name="Rectangle 30"/>
          <p:cNvSpPr/>
          <p:nvPr/>
        </p:nvSpPr>
        <p:spPr>
          <a:xfrm>
            <a:off x="594360" y="3739896"/>
            <a:ext cx="4302252"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831335"/>
            <a:ext cx="411480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ورقة عرض مالي كاملة</a:t>
            </a:r>
          </a:p>
        </p:txBody>
      </p:sp>
      <p:sp>
        <p:nvSpPr>
          <p:cNvPr id="33" name="Rectangle 32"/>
          <p:cNvSpPr/>
          <p:nvPr/>
        </p:nvSpPr>
        <p:spPr>
          <a:xfrm>
            <a:off x="7662672" y="4361688"/>
            <a:ext cx="3909059"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54112" y="4453127"/>
            <a:ext cx="372160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المستندات وسابقة الأعمال</a:t>
            </a:r>
          </a:p>
        </p:txBody>
      </p:sp>
      <p:sp>
        <p:nvSpPr>
          <p:cNvPr id="35" name="Rectangle 34"/>
          <p:cNvSpPr/>
          <p:nvPr/>
        </p:nvSpPr>
        <p:spPr>
          <a:xfrm>
            <a:off x="4919472" y="4361688"/>
            <a:ext cx="2720340"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10912" y="4453127"/>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الإدارة المختصة</a:t>
            </a:r>
          </a:p>
        </p:txBody>
      </p:sp>
      <p:sp>
        <p:nvSpPr>
          <p:cNvPr id="37" name="Rectangle 36"/>
          <p:cNvSpPr/>
          <p:nvPr/>
        </p:nvSpPr>
        <p:spPr>
          <a:xfrm>
            <a:off x="594360" y="4361688"/>
            <a:ext cx="4302252" cy="598932"/>
          </a:xfrm>
          <a:prstGeom prst="rect">
            <a:avLst/>
          </a:prstGeom>
          <a:solidFill>
            <a:srgbClr val="E9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453127"/>
            <a:ext cx="411480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ملف ثقة قابل للمراجعة</a:t>
            </a:r>
          </a:p>
        </p:txBody>
      </p:sp>
      <p:sp>
        <p:nvSpPr>
          <p:cNvPr id="39" name="Rectangle 38"/>
          <p:cNvSpPr/>
          <p:nvPr/>
        </p:nvSpPr>
        <p:spPr>
          <a:xfrm>
            <a:off x="7662672" y="4983479"/>
            <a:ext cx="3909059"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54112" y="5074919"/>
            <a:ext cx="3721607"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المخزون والميزانية والفريق</a:t>
            </a:r>
          </a:p>
        </p:txBody>
      </p:sp>
      <p:sp>
        <p:nvSpPr>
          <p:cNvPr id="41" name="Rectangle 40"/>
          <p:cNvSpPr/>
          <p:nvPr/>
        </p:nvSpPr>
        <p:spPr>
          <a:xfrm>
            <a:off x="4919472" y="4983479"/>
            <a:ext cx="2720340"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10912" y="5074919"/>
            <a:ext cx="2532888"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الإدارة والتسويق</a:t>
            </a:r>
          </a:p>
        </p:txBody>
      </p:sp>
      <p:sp>
        <p:nvSpPr>
          <p:cNvPr id="43" name="Rectangle 42"/>
          <p:cNvSpPr/>
          <p:nvPr/>
        </p:nvSpPr>
        <p:spPr>
          <a:xfrm>
            <a:off x="594360" y="4983479"/>
            <a:ext cx="4302252" cy="5989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5074919"/>
            <a:ext cx="4114800" cy="493776"/>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163440"/>
                </a:solidFill>
                <a:latin typeface="Noto Sans Arabic"/>
                <a:ea typeface="Noto Sans Arabic"/>
                <a:cs typeface="Noto Sans Arabic"/>
              </a:rPr>
              <a:t>أهداف بيع وإنفاق واقعية</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D38"/>
        </a:solidFill>
        <a:effectLst/>
      </p:bgPr>
    </p:bg>
    <p:spTree>
      <p:nvGrpSpPr>
        <p:cNvPr id="1" name=""/>
        <p:cNvGrpSpPr/>
        <p:nvPr/>
      </p:nvGrpSpPr>
      <p:grpSpPr/>
      <p:sp>
        <p:nvSpPr>
          <p:cNvPr id="2" name="Rectangle 1"/>
          <p:cNvSpPr/>
          <p:nvPr/>
        </p:nvSpPr>
        <p:spPr>
          <a:xfrm>
            <a:off x="11594592" y="530352"/>
            <a:ext cx="64008" cy="438912"/>
          </a:xfrm>
          <a:prstGeom prst="rect">
            <a:avLst/>
          </a:prstGeom>
          <a:solidFill>
            <a:srgbClr val="D8B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10312"/>
            <a:ext cx="10972800" cy="274320"/>
          </a:xfrm>
          <a:prstGeom prst="rect">
            <a:avLst/>
          </a:prstGeom>
          <a:noFill/>
        </p:spPr>
        <p:txBody>
          <a:bodyPr wrap="square" lIns="36576" rIns="36576" tIns="22860" bIns="0">
            <a:spAutoFit/>
          </a:bodyPr>
          <a:lstStyle/>
          <a:p>
            <a:pPr algn="r" rtl="1">
              <a:lnSpc>
                <a:spcPct val="110000"/>
              </a:lnSpc>
              <a:spcBef>
                <a:spcPts val="0"/>
              </a:spcBef>
              <a:spcAft>
                <a:spcPts val="800"/>
              </a:spcAft>
            </a:pPr>
            <a:r>
              <a:rPr sz="1000" b="1" lang="ar-EG">
                <a:solidFill>
                  <a:srgbClr val="D8B36A"/>
                </a:solidFill>
                <a:latin typeface="Noto Sans Arabic"/>
                <a:ea typeface="Noto Sans Arabic"/>
                <a:cs typeface="Noto Sans Arabic"/>
              </a:rPr>
              <a:t>الخطوة الجاية</a:t>
            </a:r>
          </a:p>
        </p:txBody>
      </p:sp>
      <p:sp>
        <p:nvSpPr>
          <p:cNvPr id="4" name="TextBox 3"/>
          <p:cNvSpPr txBox="1"/>
          <p:nvPr/>
        </p:nvSpPr>
        <p:spPr>
          <a:xfrm>
            <a:off x="594360" y="594360"/>
            <a:ext cx="10881360" cy="685800"/>
          </a:xfrm>
          <a:prstGeom prst="rect">
            <a:avLst/>
          </a:prstGeom>
          <a:noFill/>
        </p:spPr>
        <p:txBody>
          <a:bodyPr wrap="square" lIns="36576" rIns="36576" tIns="22860" bIns="0">
            <a:spAutoFit/>
          </a:bodyPr>
          <a:lstStyle/>
          <a:p>
            <a:pPr algn="r" rtl="1">
              <a:lnSpc>
                <a:spcPct val="110000"/>
              </a:lnSpc>
              <a:spcBef>
                <a:spcPts val="0"/>
              </a:spcBef>
              <a:spcAft>
                <a:spcPts val="800"/>
              </a:spcAft>
            </a:pPr>
            <a:r>
              <a:rPr sz="3000" b="1" lang="ar-EG">
                <a:solidFill>
                  <a:srgbClr val="FFFFFF"/>
                </a:solidFill>
                <a:latin typeface="Noto Sans Arabic"/>
                <a:ea typeface="Noto Sans Arabic"/>
                <a:cs typeface="Noto Sans Arabic"/>
              </a:rPr>
              <a:t>نجهّز الدليل. نختبر الرسالة. نقيس البيع.</a:t>
            </a:r>
          </a:p>
        </p:txBody>
      </p:sp>
      <p:sp>
        <p:nvSpPr>
          <p:cNvPr id="5" name="TextBox 4"/>
          <p:cNvSpPr txBox="1"/>
          <p:nvPr/>
        </p:nvSpPr>
        <p:spPr>
          <a:xfrm>
            <a:off x="594360" y="1307592"/>
            <a:ext cx="10927080" cy="475488"/>
          </a:xfrm>
          <a:prstGeom prst="rect">
            <a:avLst/>
          </a:prstGeom>
          <a:noFill/>
        </p:spPr>
        <p:txBody>
          <a:bodyPr wrap="square" lIns="36576" rIns="36576" tIns="22860" bIns="0">
            <a:spAutoFit/>
          </a:bodyPr>
          <a:lstStyle/>
          <a:p>
            <a:pPr algn="r" rtl="1">
              <a:lnSpc>
                <a:spcPct val="110000"/>
              </a:lnSpc>
              <a:spcBef>
                <a:spcPts val="0"/>
              </a:spcBef>
              <a:spcAft>
                <a:spcPts val="800"/>
              </a:spcAft>
            </a:pPr>
            <a:r>
              <a:rPr sz="1400" b="0" lang="ar-EG">
                <a:solidFill>
                  <a:srgbClr val="CDE5DE"/>
                </a:solidFill>
                <a:latin typeface="Noto Sans Arabic"/>
                <a:ea typeface="Noto Sans Arabic"/>
                <a:cs typeface="Noto Sans Arabic"/>
              </a:rPr>
              <a:t>خطة واضحة تبدأ بالمعلومات وتنتهي بقرار مبني على النتائج.</a:t>
            </a:r>
          </a:p>
        </p:txBody>
      </p:sp>
      <p:sp>
        <p:nvSpPr>
          <p:cNvPr id="6" name="Rectangle 5"/>
          <p:cNvSpPr/>
          <p:nvPr/>
        </p:nvSpPr>
        <p:spPr>
          <a:xfrm>
            <a:off x="594360" y="6391656"/>
            <a:ext cx="11000232" cy="10972"/>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34640" y="6473952"/>
            <a:ext cx="8732520" cy="201168"/>
          </a:xfrm>
          <a:prstGeom prst="rect">
            <a:avLst/>
          </a:prstGeom>
          <a:noFill/>
        </p:spPr>
        <p:txBody>
          <a:bodyPr wrap="square" lIns="36576" rIns="36576" tIns="22860" bIns="0">
            <a:spAutoFit/>
          </a:bodyPr>
          <a:lstStyle/>
          <a:p>
            <a:pPr algn="r" rtl="1">
              <a:lnSpc>
                <a:spcPct val="110000"/>
              </a:lnSpc>
              <a:spcBef>
                <a:spcPts val="0"/>
              </a:spcBef>
              <a:spcAft>
                <a:spcPts val="800"/>
              </a:spcAft>
            </a:pPr>
            <a:r>
              <a:rPr sz="900" b="0" lang="ar-EG">
                <a:solidFill>
                  <a:srgbClr val="CDE5DE"/>
                </a:solidFill>
                <a:latin typeface="Noto Sans Arabic"/>
                <a:ea typeface="Noto Sans Arabic"/>
                <a:cs typeface="Noto Sans Arabic"/>
              </a:rPr>
              <a:t>الوليد للتطوير العقاري  |  شرق النيل · بني سويف</a:t>
            </a:r>
          </a:p>
        </p:txBody>
      </p:sp>
      <p:sp>
        <p:nvSpPr>
          <p:cNvPr id="8" name="TextBox 7"/>
          <p:cNvSpPr txBox="1"/>
          <p:nvPr/>
        </p:nvSpPr>
        <p:spPr>
          <a:xfrm>
            <a:off x="594360" y="6455664"/>
            <a:ext cx="548640" cy="228600"/>
          </a:xfrm>
          <a:prstGeom prst="rect">
            <a:avLst/>
          </a:prstGeom>
          <a:noFill/>
        </p:spPr>
        <p:txBody>
          <a:bodyPr wrap="square" lIns="36576" rIns="36576" tIns="22860" bIns="0">
            <a:spAutoFit/>
          </a:bodyPr>
          <a:lstStyle/>
          <a:p>
            <a:pPr algn="l" rtl="1">
              <a:lnSpc>
                <a:spcPct val="110000"/>
              </a:lnSpc>
              <a:spcBef>
                <a:spcPts val="0"/>
              </a:spcBef>
              <a:spcAft>
                <a:spcPts val="800"/>
              </a:spcAft>
            </a:pPr>
            <a:r>
              <a:rPr sz="1000" b="1" lang="ar-EG">
                <a:solidFill>
                  <a:srgbClr val="D8B36A"/>
                </a:solidFill>
                <a:latin typeface="Noto Sans Arabic"/>
                <a:ea typeface="Noto Sans Arabic"/>
                <a:cs typeface="Noto Sans Arabic"/>
              </a:rPr>
              <a:t>25</a:t>
            </a:r>
          </a:p>
        </p:txBody>
      </p:sp>
      <p:sp>
        <p:nvSpPr>
          <p:cNvPr id="9" name="Rounded Rectangle 8"/>
          <p:cNvSpPr/>
          <p:nvPr/>
        </p:nvSpPr>
        <p:spPr>
          <a:xfrm>
            <a:off x="8028431" y="2011680"/>
            <a:ext cx="3566160" cy="324612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530584" y="217627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3" y="222199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D8B36A"/>
                </a:solidFill>
                <a:latin typeface="Noto Sans Arabic"/>
                <a:ea typeface="Noto Sans Arabic"/>
                <a:cs typeface="Noto Sans Arabic"/>
              </a:rPr>
              <a:t>01</a:t>
            </a:r>
          </a:p>
        </p:txBody>
      </p:sp>
      <p:sp>
        <p:nvSpPr>
          <p:cNvPr id="12" name="TextBox 11"/>
          <p:cNvSpPr txBox="1"/>
          <p:nvPr/>
        </p:nvSpPr>
        <p:spPr>
          <a:xfrm>
            <a:off x="8211311" y="299923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FFFFFF"/>
                </a:solidFill>
                <a:latin typeface="Noto Sans Arabic"/>
                <a:ea typeface="Noto Sans Arabic"/>
                <a:cs typeface="Noto Sans Arabic"/>
              </a:rPr>
              <a:t>نستكمل ملف المشروع</a:t>
            </a:r>
          </a:p>
        </p:txBody>
      </p:sp>
      <p:sp>
        <p:nvSpPr>
          <p:cNvPr id="13" name="TextBox 12"/>
          <p:cNvSpPr txBox="1"/>
          <p:nvPr/>
        </p:nvSpPr>
        <p:spPr>
          <a:xfrm>
            <a:off x="8211311" y="3694176"/>
            <a:ext cx="3154679" cy="149047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CDE5DE"/>
                </a:solidFill>
                <a:latin typeface="Noto Sans Arabic"/>
                <a:ea typeface="Noto Sans Arabic"/>
                <a:cs typeface="Noto Sans Arabic"/>
              </a:rPr>
              <a:t>مواصفات وتسليم وسداد ومستندات.</a:t>
            </a:r>
          </a:p>
        </p:txBody>
      </p:sp>
      <p:sp>
        <p:nvSpPr>
          <p:cNvPr id="14" name="Rounded Rectangle 13"/>
          <p:cNvSpPr/>
          <p:nvPr/>
        </p:nvSpPr>
        <p:spPr>
          <a:xfrm>
            <a:off x="4311395" y="2011680"/>
            <a:ext cx="3566160" cy="324612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813547" y="217627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987" y="222199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D8B36A"/>
                </a:solidFill>
                <a:latin typeface="Noto Sans Arabic"/>
                <a:ea typeface="Noto Sans Arabic"/>
                <a:cs typeface="Noto Sans Arabic"/>
              </a:rPr>
              <a:t>02</a:t>
            </a:r>
          </a:p>
        </p:txBody>
      </p:sp>
      <p:sp>
        <p:nvSpPr>
          <p:cNvPr id="17" name="TextBox 16"/>
          <p:cNvSpPr txBox="1"/>
          <p:nvPr/>
        </p:nvSpPr>
        <p:spPr>
          <a:xfrm>
            <a:off x="4494275" y="299923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FFFFFF"/>
                </a:solidFill>
                <a:latin typeface="Noto Sans Arabic"/>
                <a:ea typeface="Noto Sans Arabic"/>
                <a:cs typeface="Noto Sans Arabic"/>
              </a:rPr>
              <a:t>نطلق اختبار منضبط</a:t>
            </a:r>
          </a:p>
        </p:txBody>
      </p:sp>
      <p:sp>
        <p:nvSpPr>
          <p:cNvPr id="18" name="TextBox 17"/>
          <p:cNvSpPr txBox="1"/>
          <p:nvPr/>
        </p:nvSpPr>
        <p:spPr>
          <a:xfrm>
            <a:off x="4494275" y="3694176"/>
            <a:ext cx="3154679" cy="149047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CDE5DE"/>
                </a:solidFill>
                <a:latin typeface="Noto Sans Arabic"/>
                <a:ea typeface="Noto Sans Arabic"/>
                <a:cs typeface="Noto Sans Arabic"/>
              </a:rPr>
              <a:t>رسائل قليلة واضحة وجمهور مناسب.</a:t>
            </a:r>
          </a:p>
        </p:txBody>
      </p:sp>
      <p:sp>
        <p:nvSpPr>
          <p:cNvPr id="19" name="Rounded Rectangle 18"/>
          <p:cNvSpPr/>
          <p:nvPr/>
        </p:nvSpPr>
        <p:spPr>
          <a:xfrm>
            <a:off x="594359" y="2011680"/>
            <a:ext cx="3566160" cy="3246120"/>
          </a:xfrm>
          <a:prstGeom prst="roundRect">
            <a:avLst>
              <a:gd name="adj" fmla="val 12000"/>
            </a:avLst>
          </a:prstGeom>
          <a:solidFill>
            <a:srgbClr val="0A20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96511" y="2176272"/>
            <a:ext cx="41148" cy="411480"/>
          </a:xfrm>
          <a:prstGeom prst="rect">
            <a:avLst/>
          </a:prstGeom>
          <a:solidFill>
            <a:srgbClr val="176B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1" y="2221992"/>
            <a:ext cx="3200400" cy="731520"/>
          </a:xfrm>
          <a:prstGeom prst="rect">
            <a:avLst/>
          </a:prstGeom>
          <a:noFill/>
        </p:spPr>
        <p:txBody>
          <a:bodyPr wrap="square" lIns="36576" rIns="36576" tIns="22860" bIns="0">
            <a:spAutoFit/>
          </a:bodyPr>
          <a:lstStyle/>
          <a:p>
            <a:pPr algn="r" rtl="1">
              <a:lnSpc>
                <a:spcPct val="110000"/>
              </a:lnSpc>
              <a:spcBef>
                <a:spcPts val="0"/>
              </a:spcBef>
              <a:spcAft>
                <a:spcPts val="800"/>
              </a:spcAft>
            </a:pPr>
            <a:r>
              <a:rPr sz="3600" b="1" lang="ar-EG">
                <a:solidFill>
                  <a:srgbClr val="D8B36A"/>
                </a:solidFill>
                <a:latin typeface="Noto Sans Arabic"/>
                <a:ea typeface="Noto Sans Arabic"/>
                <a:cs typeface="Noto Sans Arabic"/>
              </a:rPr>
              <a:t>03</a:t>
            </a:r>
          </a:p>
        </p:txBody>
      </p:sp>
      <p:sp>
        <p:nvSpPr>
          <p:cNvPr id="22" name="TextBox 21"/>
          <p:cNvSpPr txBox="1"/>
          <p:nvPr/>
        </p:nvSpPr>
        <p:spPr>
          <a:xfrm>
            <a:off x="777239" y="2999232"/>
            <a:ext cx="3154679" cy="594360"/>
          </a:xfrm>
          <a:prstGeom prst="rect">
            <a:avLst/>
          </a:prstGeom>
          <a:noFill/>
        </p:spPr>
        <p:txBody>
          <a:bodyPr wrap="square" lIns="36576" rIns="36576" tIns="22860" bIns="0">
            <a:spAutoFit/>
          </a:bodyPr>
          <a:lstStyle/>
          <a:p>
            <a:pPr algn="r" rtl="1">
              <a:lnSpc>
                <a:spcPct val="110000"/>
              </a:lnSpc>
              <a:spcBef>
                <a:spcPts val="0"/>
              </a:spcBef>
              <a:spcAft>
                <a:spcPts val="800"/>
              </a:spcAft>
            </a:pPr>
            <a:r>
              <a:rPr sz="1900" b="1" lang="ar-EG">
                <a:solidFill>
                  <a:srgbClr val="FFFFFF"/>
                </a:solidFill>
                <a:latin typeface="Noto Sans Arabic"/>
                <a:ea typeface="Noto Sans Arabic"/>
                <a:cs typeface="Noto Sans Arabic"/>
              </a:rPr>
              <a:t>نوسّع اللي بيجيب نتيجة</a:t>
            </a:r>
          </a:p>
        </p:txBody>
      </p:sp>
      <p:sp>
        <p:nvSpPr>
          <p:cNvPr id="23" name="TextBox 22"/>
          <p:cNvSpPr txBox="1"/>
          <p:nvPr/>
        </p:nvSpPr>
        <p:spPr>
          <a:xfrm>
            <a:off x="777239" y="3694176"/>
            <a:ext cx="3154679" cy="1490472"/>
          </a:xfrm>
          <a:prstGeom prst="rect">
            <a:avLst/>
          </a:prstGeom>
          <a:noFill/>
        </p:spPr>
        <p:txBody>
          <a:bodyPr wrap="square" lIns="36576" rIns="36576" tIns="22860" bIns="0">
            <a:spAutoFit/>
          </a:bodyPr>
          <a:lstStyle/>
          <a:p>
            <a:pPr algn="r" rtl="1">
              <a:lnSpc>
                <a:spcPct val="110000"/>
              </a:lnSpc>
              <a:spcBef>
                <a:spcPts val="0"/>
              </a:spcBef>
              <a:spcAft>
                <a:spcPts val="800"/>
              </a:spcAft>
            </a:pPr>
            <a:r>
              <a:rPr sz="1500" b="0" lang="ar-EG">
                <a:solidFill>
                  <a:srgbClr val="CDE5DE"/>
                </a:solidFill>
                <a:latin typeface="Noto Sans Arabic"/>
                <a:ea typeface="Noto Sans Arabic"/>
                <a:cs typeface="Noto Sans Arabic"/>
              </a:rPr>
              <a:t>معاينات جادة وحجوزات قابلة للقياس.</a:t>
            </a:r>
          </a:p>
        </p:txBody>
      </p:sp>
      <p:sp>
        <p:nvSpPr>
          <p:cNvPr id="24" name="TextBox 23"/>
          <p:cNvSpPr txBox="1"/>
          <p:nvPr/>
        </p:nvSpPr>
        <p:spPr>
          <a:xfrm>
            <a:off x="685800" y="5532120"/>
            <a:ext cx="10881360" cy="457200"/>
          </a:xfrm>
          <a:prstGeom prst="rect">
            <a:avLst/>
          </a:prstGeom>
          <a:noFill/>
        </p:spPr>
        <p:txBody>
          <a:bodyPr wrap="square" lIns="36576" rIns="36576" tIns="22860" bIns="0">
            <a:spAutoFit/>
          </a:bodyPr>
          <a:lstStyle/>
          <a:p>
            <a:pPr algn="r" rtl="1">
              <a:lnSpc>
                <a:spcPct val="110000"/>
              </a:lnSpc>
              <a:spcBef>
                <a:spcPts val="0"/>
              </a:spcBef>
              <a:spcAft>
                <a:spcPts val="800"/>
              </a:spcAft>
            </a:pPr>
            <a:r>
              <a:rPr sz="2200" b="1" lang="ar-EG">
                <a:solidFill>
                  <a:srgbClr val="D8B36A"/>
                </a:solidFill>
                <a:latin typeface="Noto Sans Arabic"/>
                <a:ea typeface="Noto Sans Arabic"/>
                <a:cs typeface="Noto Sans Arabic"/>
              </a:rPr>
              <a:t>الوليد للتطوير العقاري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استراتيجية تسويق الوليد للتطوير العقاري</dc:title>
  <dc:subject>شرق النيل — الحي الثالث — بني سويف | خطة ٩٠ يوم</dc:subject>
  <dc:creator>الوليد للتطوير العقاري</dc:creator>
  <cp:keywords>عقارات، بني سويف، شرق النيل، استراتيجية تسويق</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